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Abril Fatface Italics" panose="020B0604020202020204" charset="0"/>
      <p:regular r:id="rId17"/>
    </p:embeddedFont>
    <p:embeddedFont>
      <p:font typeface="Akzidenz-Grotesk Bold" panose="020B0604020202020204" charset="0"/>
      <p:regular r:id="rId18"/>
    </p:embeddedFont>
    <p:embeddedFont>
      <p:font typeface="IBM Plex Mono" panose="020F0502020204030204" pitchFamily="49" charset="0"/>
      <p:regular r:id="rId19"/>
    </p:embeddedFont>
    <p:embeddedFont>
      <p:font typeface="IBM Plex Mono Bold" panose="020B0604020202020204" charset="0"/>
      <p:regular r:id="rId20"/>
    </p:embeddedFont>
    <p:embeddedFont>
      <p:font typeface="IBM Plex Sans" panose="020F0502020204030204" pitchFamily="34" charset="0"/>
      <p:regular r:id="rId21"/>
    </p:embeddedFont>
    <p:embeddedFont>
      <p:font typeface="IBM Plex Sans Bold" panose="020B0604020202020204" charset="0"/>
      <p:regular r:id="rId22"/>
    </p:embeddedFont>
    <p:embeddedFont>
      <p:font typeface="Proxima Nova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1020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810750" y="0"/>
            <a:ext cx="8477250" cy="10287000"/>
          </a:xfrm>
          <a:custGeom>
            <a:avLst/>
            <a:gdLst/>
            <a:ahLst/>
            <a:cxnLst/>
            <a:rect l="l" t="t" r="r" b="b"/>
            <a:pathLst>
              <a:path w="8477250" h="10287000">
                <a:moveTo>
                  <a:pt x="0" y="0"/>
                </a:moveTo>
                <a:lnTo>
                  <a:pt x="8477250" y="0"/>
                </a:lnTo>
                <a:lnTo>
                  <a:pt x="84772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9" b="-19"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8096250" y="0"/>
            <a:ext cx="6191250" cy="10287000"/>
            <a:chOff x="0" y="0"/>
            <a:chExt cx="8255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255000" cy="13716000"/>
            </a:xfrm>
            <a:custGeom>
              <a:avLst/>
              <a:gdLst/>
              <a:ahLst/>
              <a:cxnLst/>
              <a:rect l="l" t="t" r="r" b="b"/>
              <a:pathLst>
                <a:path w="8255000" h="13716000">
                  <a:moveTo>
                    <a:pt x="0" y="0"/>
                  </a:moveTo>
                  <a:lnTo>
                    <a:pt x="8255000" y="0"/>
                  </a:lnTo>
                  <a:lnTo>
                    <a:pt x="8255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1">
              <a:gsLst>
                <a:gs pos="0">
                  <a:srgbClr val="08111F">
                    <a:alpha val="55000"/>
                  </a:srgbClr>
                </a:gs>
                <a:gs pos="55000">
                  <a:srgbClr val="08111F">
                    <a:alpha val="44000"/>
                  </a:srgbClr>
                </a:gs>
                <a:gs pos="100000">
                  <a:srgbClr val="08111F">
                    <a:alpha val="0"/>
                  </a:srgbClr>
                </a:gs>
              </a:gsLst>
              <a:lin ang="16200000"/>
            </a:gra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255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47750" y="1343025"/>
            <a:ext cx="47625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22D3E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ALGORITHMS · 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47750" y="2276475"/>
            <a:ext cx="8572500" cy="2792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9600" b="1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Binary</a:t>
            </a:r>
          </a:p>
          <a:p>
            <a:pPr algn="l">
              <a:lnSpc>
                <a:spcPts val="10080"/>
              </a:lnSpc>
            </a:pPr>
            <a:r>
              <a:rPr lang="en-US" sz="9600" b="1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Search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123950" y="5048250"/>
            <a:ext cx="1428750" cy="76200"/>
            <a:chOff x="0" y="0"/>
            <a:chExt cx="1905000" cy="1016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05000" cy="101600"/>
            </a:xfrm>
            <a:custGeom>
              <a:avLst/>
              <a:gdLst/>
              <a:ahLst/>
              <a:cxnLst/>
              <a:rect l="l" t="t" r="r" b="b"/>
              <a:pathLst>
                <a:path w="1905000" h="101600">
                  <a:moveTo>
                    <a:pt x="0" y="0"/>
                  </a:moveTo>
                  <a:lnTo>
                    <a:pt x="1905000" y="0"/>
                  </a:lnTo>
                  <a:lnTo>
                    <a:pt x="1905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2D3EE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9050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123950" y="5295900"/>
            <a:ext cx="7239000" cy="443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sz="27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Efficient Searching in Sorted Arrays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23950" y="8860790"/>
            <a:ext cx="6580003" cy="414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9"/>
              </a:lnSpc>
            </a:pPr>
            <a:r>
              <a:rPr lang="en-US" sz="2449">
                <a:solidFill>
                  <a:srgbClr val="9FB0C5"/>
                </a:solidFill>
                <a:latin typeface="Proxima Nova"/>
                <a:ea typeface="Proxima Nova"/>
                <a:cs typeface="Proxima Nova"/>
                <a:sym typeface="Proxima Nova"/>
              </a:rPr>
              <a:t>Presenter Name  ·  Shivansh Tiwari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7250" y="457200"/>
            <a:ext cx="16573500" cy="762000"/>
            <a:chOff x="0" y="0"/>
            <a:chExt cx="22098000" cy="1016000"/>
          </a:xfrm>
        </p:grpSpPr>
        <p:sp>
          <p:nvSpPr>
            <p:cNvPr id="3" name="TextBox 3"/>
            <p:cNvSpPr txBox="1"/>
            <p:nvPr/>
          </p:nvSpPr>
          <p:spPr>
            <a:xfrm>
              <a:off x="0" y="63500"/>
              <a:ext cx="1524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>
                  <a:solidFill>
                    <a:srgbClr val="2563EB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02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778000" y="-19050"/>
              <a:ext cx="19050000" cy="8039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095"/>
                </a:lnSpc>
              </a:pPr>
              <a:r>
                <a:rPr lang="en-US" sz="3900" b="1">
                  <a:solidFill>
                    <a:srgbClr val="132033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Introduction to Searching</a:t>
              </a:r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990600"/>
              <a:ext cx="22098000" cy="25400"/>
              <a:chOff x="0" y="0"/>
              <a:chExt cx="22098000" cy="254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20980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2098000" h="25400">
                    <a:moveTo>
                      <a:pt x="0" y="0"/>
                    </a:moveTo>
                    <a:lnTo>
                      <a:pt x="22098000" y="0"/>
                    </a:lnTo>
                    <a:lnTo>
                      <a:pt x="220980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CBD5E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22098000" cy="63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sp>
        <p:nvSpPr>
          <p:cNvPr id="8" name="TextBox 8"/>
          <p:cNvSpPr txBox="1"/>
          <p:nvPr/>
        </p:nvSpPr>
        <p:spPr>
          <a:xfrm>
            <a:off x="1047750" y="1771650"/>
            <a:ext cx="8096250" cy="35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132033"/>
                </a:solidFill>
                <a:latin typeface="IBM Plex Sans"/>
                <a:ea typeface="IBM Plex Sans"/>
                <a:cs typeface="IBM Plex Sans"/>
                <a:sym typeface="IBM Plex Sans"/>
              </a:rPr>
              <a:t>Searching asks one simple question: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47750" y="2295525"/>
            <a:ext cx="7429500" cy="1916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0"/>
              </a:lnSpc>
            </a:pPr>
            <a:r>
              <a:rPr lang="en-US" sz="6600" b="1">
                <a:solidFill>
                  <a:srgbClr val="132033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Where is the</a:t>
            </a:r>
          </a:p>
          <a:p>
            <a:pPr algn="l">
              <a:lnSpc>
                <a:spcPts val="6930"/>
              </a:lnSpc>
            </a:pPr>
            <a:r>
              <a:rPr lang="en-US" sz="6600" b="1">
                <a:solidFill>
                  <a:srgbClr val="132033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target?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47750" y="4733925"/>
            <a:ext cx="6858000" cy="1128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132033"/>
                </a:solidFill>
                <a:latin typeface="IBM Plex Sans"/>
                <a:ea typeface="IBM Plex Sans"/>
                <a:cs typeface="IBM Plex Sans"/>
                <a:sym typeface="IBM Plex Sans"/>
              </a:rPr>
              <a:t>Binary Search answers efficiently—but only when the data is sorted. Order lets every comparison discard an entire half of the remaining search space.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620250" y="2152650"/>
            <a:ext cx="66675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607086"/>
                </a:solidFill>
                <a:latin typeface="IBM Plex Mono"/>
                <a:ea typeface="IBM Plex Mono"/>
                <a:cs typeface="IBM Plex Mono"/>
                <a:sym typeface="IBM Plex Mono"/>
              </a:rPr>
              <a:t>UNSORTED → no safe elimination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620250" y="4629150"/>
            <a:ext cx="66675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2563EB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SORTED → eliminate ½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620250" y="2762250"/>
            <a:ext cx="952500" cy="857250"/>
            <a:chOff x="0" y="0"/>
            <a:chExt cx="1270000" cy="1143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70000" cy="1143000"/>
            </a:xfrm>
            <a:custGeom>
              <a:avLst/>
              <a:gdLst/>
              <a:ahLst/>
              <a:cxnLst/>
              <a:rect l="l" t="t" r="r" b="b"/>
              <a:pathLst>
                <a:path w="1270000" h="1143000">
                  <a:moveTo>
                    <a:pt x="127000" y="0"/>
                  </a:moveTo>
                  <a:lnTo>
                    <a:pt x="1143000" y="0"/>
                  </a:lnTo>
                  <a:cubicBezTo>
                    <a:pt x="1213140" y="0"/>
                    <a:pt x="1270000" y="56860"/>
                    <a:pt x="1270000" y="127000"/>
                  </a:cubicBezTo>
                  <a:lnTo>
                    <a:pt x="1270000" y="1016000"/>
                  </a:lnTo>
                  <a:cubicBezTo>
                    <a:pt x="1270000" y="1086140"/>
                    <a:pt x="1213140" y="1143000"/>
                    <a:pt x="1143000" y="1143000"/>
                  </a:cubicBezTo>
                  <a:lnTo>
                    <a:pt x="127000" y="1143000"/>
                  </a:lnTo>
                  <a:cubicBezTo>
                    <a:pt x="56860" y="1143000"/>
                    <a:pt x="0" y="1086140"/>
                    <a:pt x="0" y="1016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DDE4ED"/>
            </a:solidFill>
            <a:ln cap="sq">
              <a:noFill/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270000" cy="118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r>
                <a:rPr lang="en-US" sz="1950" b="1">
                  <a:solidFill>
                    <a:srgbClr val="132033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40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763250" y="2762250"/>
            <a:ext cx="952500" cy="857250"/>
            <a:chOff x="0" y="0"/>
            <a:chExt cx="1270000" cy="1143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70000" cy="1143000"/>
            </a:xfrm>
            <a:custGeom>
              <a:avLst/>
              <a:gdLst/>
              <a:ahLst/>
              <a:cxnLst/>
              <a:rect l="l" t="t" r="r" b="b"/>
              <a:pathLst>
                <a:path w="1270000" h="1143000">
                  <a:moveTo>
                    <a:pt x="127000" y="0"/>
                  </a:moveTo>
                  <a:lnTo>
                    <a:pt x="1143000" y="0"/>
                  </a:lnTo>
                  <a:cubicBezTo>
                    <a:pt x="1213140" y="0"/>
                    <a:pt x="1270000" y="56860"/>
                    <a:pt x="1270000" y="127000"/>
                  </a:cubicBezTo>
                  <a:lnTo>
                    <a:pt x="1270000" y="1016000"/>
                  </a:lnTo>
                  <a:cubicBezTo>
                    <a:pt x="1270000" y="1086140"/>
                    <a:pt x="1213140" y="1143000"/>
                    <a:pt x="1143000" y="1143000"/>
                  </a:cubicBezTo>
                  <a:lnTo>
                    <a:pt x="127000" y="1143000"/>
                  </a:lnTo>
                  <a:cubicBezTo>
                    <a:pt x="56860" y="1143000"/>
                    <a:pt x="0" y="1086140"/>
                    <a:pt x="0" y="1016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DDE4ED"/>
            </a:solidFill>
            <a:ln cap="sq">
              <a:noFill/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270000" cy="118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r>
                <a:rPr lang="en-US" sz="1950" b="1">
                  <a:solidFill>
                    <a:srgbClr val="132033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10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1906250" y="2762250"/>
            <a:ext cx="952500" cy="857250"/>
            <a:chOff x="0" y="0"/>
            <a:chExt cx="1270000" cy="1143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270000" cy="1143000"/>
            </a:xfrm>
            <a:custGeom>
              <a:avLst/>
              <a:gdLst/>
              <a:ahLst/>
              <a:cxnLst/>
              <a:rect l="l" t="t" r="r" b="b"/>
              <a:pathLst>
                <a:path w="1270000" h="1143000">
                  <a:moveTo>
                    <a:pt x="127000" y="0"/>
                  </a:moveTo>
                  <a:lnTo>
                    <a:pt x="1143000" y="0"/>
                  </a:lnTo>
                  <a:cubicBezTo>
                    <a:pt x="1213140" y="0"/>
                    <a:pt x="1270000" y="56860"/>
                    <a:pt x="1270000" y="127000"/>
                  </a:cubicBezTo>
                  <a:lnTo>
                    <a:pt x="1270000" y="1016000"/>
                  </a:lnTo>
                  <a:cubicBezTo>
                    <a:pt x="1270000" y="1086140"/>
                    <a:pt x="1213140" y="1143000"/>
                    <a:pt x="1143000" y="1143000"/>
                  </a:cubicBezTo>
                  <a:lnTo>
                    <a:pt x="127000" y="1143000"/>
                  </a:lnTo>
                  <a:cubicBezTo>
                    <a:pt x="56860" y="1143000"/>
                    <a:pt x="0" y="1086140"/>
                    <a:pt x="0" y="1016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DDE4ED"/>
            </a:solidFill>
            <a:ln cap="sq">
              <a:noFill/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270000" cy="118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r>
                <a:rPr lang="en-US" sz="1950" b="1">
                  <a:solidFill>
                    <a:srgbClr val="132033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70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3049250" y="2762250"/>
            <a:ext cx="952500" cy="857250"/>
            <a:chOff x="0" y="0"/>
            <a:chExt cx="1270000" cy="11430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270000" cy="1143000"/>
            </a:xfrm>
            <a:custGeom>
              <a:avLst/>
              <a:gdLst/>
              <a:ahLst/>
              <a:cxnLst/>
              <a:rect l="l" t="t" r="r" b="b"/>
              <a:pathLst>
                <a:path w="1270000" h="1143000">
                  <a:moveTo>
                    <a:pt x="127000" y="0"/>
                  </a:moveTo>
                  <a:lnTo>
                    <a:pt x="1143000" y="0"/>
                  </a:lnTo>
                  <a:cubicBezTo>
                    <a:pt x="1213140" y="0"/>
                    <a:pt x="1270000" y="56860"/>
                    <a:pt x="1270000" y="127000"/>
                  </a:cubicBezTo>
                  <a:lnTo>
                    <a:pt x="1270000" y="1016000"/>
                  </a:lnTo>
                  <a:cubicBezTo>
                    <a:pt x="1270000" y="1086140"/>
                    <a:pt x="1213140" y="1143000"/>
                    <a:pt x="1143000" y="1143000"/>
                  </a:cubicBezTo>
                  <a:lnTo>
                    <a:pt x="127000" y="1143000"/>
                  </a:lnTo>
                  <a:cubicBezTo>
                    <a:pt x="56860" y="1143000"/>
                    <a:pt x="0" y="1086140"/>
                    <a:pt x="0" y="1016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DDE4ED"/>
            </a:solidFill>
            <a:ln cap="sq">
              <a:noFill/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1270000" cy="118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r>
                <a:rPr lang="en-US" sz="1950" b="1">
                  <a:solidFill>
                    <a:srgbClr val="132033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20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4192250" y="2762250"/>
            <a:ext cx="952500" cy="857250"/>
            <a:chOff x="0" y="0"/>
            <a:chExt cx="1270000" cy="11430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270000" cy="1143000"/>
            </a:xfrm>
            <a:custGeom>
              <a:avLst/>
              <a:gdLst/>
              <a:ahLst/>
              <a:cxnLst/>
              <a:rect l="l" t="t" r="r" b="b"/>
              <a:pathLst>
                <a:path w="1270000" h="1143000">
                  <a:moveTo>
                    <a:pt x="127000" y="0"/>
                  </a:moveTo>
                  <a:lnTo>
                    <a:pt x="1143000" y="0"/>
                  </a:lnTo>
                  <a:cubicBezTo>
                    <a:pt x="1213140" y="0"/>
                    <a:pt x="1270000" y="56860"/>
                    <a:pt x="1270000" y="127000"/>
                  </a:cubicBezTo>
                  <a:lnTo>
                    <a:pt x="1270000" y="1016000"/>
                  </a:lnTo>
                  <a:cubicBezTo>
                    <a:pt x="1270000" y="1086140"/>
                    <a:pt x="1213140" y="1143000"/>
                    <a:pt x="1143000" y="1143000"/>
                  </a:cubicBezTo>
                  <a:lnTo>
                    <a:pt x="127000" y="1143000"/>
                  </a:lnTo>
                  <a:cubicBezTo>
                    <a:pt x="56860" y="1143000"/>
                    <a:pt x="0" y="1086140"/>
                    <a:pt x="0" y="1016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DDE4ED"/>
            </a:solidFill>
            <a:ln cap="sq">
              <a:noFill/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1270000" cy="118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r>
                <a:rPr lang="en-US" sz="1950" b="1">
                  <a:solidFill>
                    <a:srgbClr val="132033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60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5335250" y="2762250"/>
            <a:ext cx="952500" cy="857250"/>
            <a:chOff x="0" y="0"/>
            <a:chExt cx="1270000" cy="11430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270000" cy="1143000"/>
            </a:xfrm>
            <a:custGeom>
              <a:avLst/>
              <a:gdLst/>
              <a:ahLst/>
              <a:cxnLst/>
              <a:rect l="l" t="t" r="r" b="b"/>
              <a:pathLst>
                <a:path w="1270000" h="1143000">
                  <a:moveTo>
                    <a:pt x="127000" y="0"/>
                  </a:moveTo>
                  <a:lnTo>
                    <a:pt x="1143000" y="0"/>
                  </a:lnTo>
                  <a:cubicBezTo>
                    <a:pt x="1213140" y="0"/>
                    <a:pt x="1270000" y="56860"/>
                    <a:pt x="1270000" y="127000"/>
                  </a:cubicBezTo>
                  <a:lnTo>
                    <a:pt x="1270000" y="1016000"/>
                  </a:lnTo>
                  <a:cubicBezTo>
                    <a:pt x="1270000" y="1086140"/>
                    <a:pt x="1213140" y="1143000"/>
                    <a:pt x="1143000" y="1143000"/>
                  </a:cubicBezTo>
                  <a:lnTo>
                    <a:pt x="127000" y="1143000"/>
                  </a:lnTo>
                  <a:cubicBezTo>
                    <a:pt x="56860" y="1143000"/>
                    <a:pt x="0" y="1086140"/>
                    <a:pt x="0" y="1016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DDE4ED"/>
            </a:solidFill>
            <a:ln cap="sq">
              <a:noFill/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1270000" cy="118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r>
                <a:rPr lang="en-US" sz="1950" b="1">
                  <a:solidFill>
                    <a:srgbClr val="132033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30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620250" y="5238750"/>
            <a:ext cx="952500" cy="857250"/>
            <a:chOff x="0" y="0"/>
            <a:chExt cx="1270000" cy="11430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270000" cy="1143000"/>
            </a:xfrm>
            <a:custGeom>
              <a:avLst/>
              <a:gdLst/>
              <a:ahLst/>
              <a:cxnLst/>
              <a:rect l="l" t="t" r="r" b="b"/>
              <a:pathLst>
                <a:path w="1270000" h="1143000">
                  <a:moveTo>
                    <a:pt x="127000" y="0"/>
                  </a:moveTo>
                  <a:lnTo>
                    <a:pt x="1143000" y="0"/>
                  </a:lnTo>
                  <a:cubicBezTo>
                    <a:pt x="1213140" y="0"/>
                    <a:pt x="1270000" y="56860"/>
                    <a:pt x="1270000" y="127000"/>
                  </a:cubicBezTo>
                  <a:lnTo>
                    <a:pt x="1270000" y="1016000"/>
                  </a:lnTo>
                  <a:cubicBezTo>
                    <a:pt x="1270000" y="1086140"/>
                    <a:pt x="1213140" y="1143000"/>
                    <a:pt x="1143000" y="1143000"/>
                  </a:cubicBezTo>
                  <a:lnTo>
                    <a:pt x="127000" y="1143000"/>
                  </a:lnTo>
                  <a:cubicBezTo>
                    <a:pt x="56860" y="1143000"/>
                    <a:pt x="0" y="1086140"/>
                    <a:pt x="0" y="1016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DBEAFE"/>
            </a:solidFill>
            <a:ln cap="sq">
              <a:noFill/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1270000" cy="118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r>
                <a:rPr lang="en-US" sz="1950" b="1">
                  <a:solidFill>
                    <a:srgbClr val="132033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10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0763250" y="5238750"/>
            <a:ext cx="952500" cy="857250"/>
            <a:chOff x="0" y="0"/>
            <a:chExt cx="1270000" cy="11430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270000" cy="1143000"/>
            </a:xfrm>
            <a:custGeom>
              <a:avLst/>
              <a:gdLst/>
              <a:ahLst/>
              <a:cxnLst/>
              <a:rect l="l" t="t" r="r" b="b"/>
              <a:pathLst>
                <a:path w="1270000" h="1143000">
                  <a:moveTo>
                    <a:pt x="127000" y="0"/>
                  </a:moveTo>
                  <a:lnTo>
                    <a:pt x="1143000" y="0"/>
                  </a:lnTo>
                  <a:cubicBezTo>
                    <a:pt x="1213140" y="0"/>
                    <a:pt x="1270000" y="56860"/>
                    <a:pt x="1270000" y="127000"/>
                  </a:cubicBezTo>
                  <a:lnTo>
                    <a:pt x="1270000" y="1016000"/>
                  </a:lnTo>
                  <a:cubicBezTo>
                    <a:pt x="1270000" y="1086140"/>
                    <a:pt x="1213140" y="1143000"/>
                    <a:pt x="1143000" y="1143000"/>
                  </a:cubicBezTo>
                  <a:lnTo>
                    <a:pt x="127000" y="1143000"/>
                  </a:lnTo>
                  <a:cubicBezTo>
                    <a:pt x="56860" y="1143000"/>
                    <a:pt x="0" y="1086140"/>
                    <a:pt x="0" y="1016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DBEAFE"/>
            </a:solidFill>
            <a:ln cap="sq">
              <a:noFill/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1270000" cy="118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r>
                <a:rPr lang="en-US" sz="1950" b="1">
                  <a:solidFill>
                    <a:srgbClr val="132033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20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906250" y="5238750"/>
            <a:ext cx="952500" cy="857250"/>
            <a:chOff x="0" y="0"/>
            <a:chExt cx="1270000" cy="11430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270000" cy="1143000"/>
            </a:xfrm>
            <a:custGeom>
              <a:avLst/>
              <a:gdLst/>
              <a:ahLst/>
              <a:cxnLst/>
              <a:rect l="l" t="t" r="r" b="b"/>
              <a:pathLst>
                <a:path w="1270000" h="1143000">
                  <a:moveTo>
                    <a:pt x="127000" y="0"/>
                  </a:moveTo>
                  <a:lnTo>
                    <a:pt x="1143000" y="0"/>
                  </a:lnTo>
                  <a:cubicBezTo>
                    <a:pt x="1213140" y="0"/>
                    <a:pt x="1270000" y="56860"/>
                    <a:pt x="1270000" y="127000"/>
                  </a:cubicBezTo>
                  <a:lnTo>
                    <a:pt x="1270000" y="1016000"/>
                  </a:lnTo>
                  <a:cubicBezTo>
                    <a:pt x="1270000" y="1086140"/>
                    <a:pt x="1213140" y="1143000"/>
                    <a:pt x="1143000" y="1143000"/>
                  </a:cubicBezTo>
                  <a:lnTo>
                    <a:pt x="127000" y="1143000"/>
                  </a:lnTo>
                  <a:cubicBezTo>
                    <a:pt x="56860" y="1143000"/>
                    <a:pt x="0" y="1086140"/>
                    <a:pt x="0" y="1016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DBEAFE"/>
            </a:solidFill>
            <a:ln cap="sq">
              <a:noFill/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1270000" cy="118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r>
                <a:rPr lang="en-US" sz="1950" b="1">
                  <a:solidFill>
                    <a:srgbClr val="132033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30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3049250" y="5238750"/>
            <a:ext cx="952500" cy="857250"/>
            <a:chOff x="0" y="0"/>
            <a:chExt cx="1270000" cy="11430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270000" cy="1143000"/>
            </a:xfrm>
            <a:custGeom>
              <a:avLst/>
              <a:gdLst/>
              <a:ahLst/>
              <a:cxnLst/>
              <a:rect l="l" t="t" r="r" b="b"/>
              <a:pathLst>
                <a:path w="1270000" h="1143000">
                  <a:moveTo>
                    <a:pt x="127000" y="0"/>
                  </a:moveTo>
                  <a:lnTo>
                    <a:pt x="1143000" y="0"/>
                  </a:lnTo>
                  <a:cubicBezTo>
                    <a:pt x="1213140" y="0"/>
                    <a:pt x="1270000" y="56860"/>
                    <a:pt x="1270000" y="127000"/>
                  </a:cubicBezTo>
                  <a:lnTo>
                    <a:pt x="1270000" y="1016000"/>
                  </a:lnTo>
                  <a:cubicBezTo>
                    <a:pt x="1270000" y="1086140"/>
                    <a:pt x="1213140" y="1143000"/>
                    <a:pt x="1143000" y="1143000"/>
                  </a:cubicBezTo>
                  <a:lnTo>
                    <a:pt x="127000" y="1143000"/>
                  </a:lnTo>
                  <a:cubicBezTo>
                    <a:pt x="56860" y="1143000"/>
                    <a:pt x="0" y="1086140"/>
                    <a:pt x="0" y="1016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2563EB"/>
            </a:solidFill>
            <a:ln cap="sq">
              <a:noFill/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1270000" cy="118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r>
                <a:rPr lang="en-US" sz="1950" b="1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40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4192250" y="5238750"/>
            <a:ext cx="952500" cy="857250"/>
            <a:chOff x="0" y="0"/>
            <a:chExt cx="1270000" cy="11430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270000" cy="1143000"/>
            </a:xfrm>
            <a:custGeom>
              <a:avLst/>
              <a:gdLst/>
              <a:ahLst/>
              <a:cxnLst/>
              <a:rect l="l" t="t" r="r" b="b"/>
              <a:pathLst>
                <a:path w="1270000" h="1143000">
                  <a:moveTo>
                    <a:pt x="127000" y="0"/>
                  </a:moveTo>
                  <a:lnTo>
                    <a:pt x="1143000" y="0"/>
                  </a:lnTo>
                  <a:cubicBezTo>
                    <a:pt x="1213140" y="0"/>
                    <a:pt x="1270000" y="56860"/>
                    <a:pt x="1270000" y="127000"/>
                  </a:cubicBezTo>
                  <a:lnTo>
                    <a:pt x="1270000" y="1016000"/>
                  </a:lnTo>
                  <a:cubicBezTo>
                    <a:pt x="1270000" y="1086140"/>
                    <a:pt x="1213140" y="1143000"/>
                    <a:pt x="1143000" y="1143000"/>
                  </a:cubicBezTo>
                  <a:lnTo>
                    <a:pt x="127000" y="1143000"/>
                  </a:lnTo>
                  <a:cubicBezTo>
                    <a:pt x="56860" y="1143000"/>
                    <a:pt x="0" y="1086140"/>
                    <a:pt x="0" y="1016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2563EB"/>
            </a:solidFill>
            <a:ln cap="sq">
              <a:noFill/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0" y="-38100"/>
              <a:ext cx="1270000" cy="118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r>
                <a:rPr lang="en-US" sz="1950" b="1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60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5335250" y="5238750"/>
            <a:ext cx="952500" cy="857250"/>
            <a:chOff x="0" y="0"/>
            <a:chExt cx="1270000" cy="11430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270000" cy="1143000"/>
            </a:xfrm>
            <a:custGeom>
              <a:avLst/>
              <a:gdLst/>
              <a:ahLst/>
              <a:cxnLst/>
              <a:rect l="l" t="t" r="r" b="b"/>
              <a:pathLst>
                <a:path w="1270000" h="1143000">
                  <a:moveTo>
                    <a:pt x="127000" y="0"/>
                  </a:moveTo>
                  <a:lnTo>
                    <a:pt x="1143000" y="0"/>
                  </a:lnTo>
                  <a:cubicBezTo>
                    <a:pt x="1213140" y="0"/>
                    <a:pt x="1270000" y="56860"/>
                    <a:pt x="1270000" y="127000"/>
                  </a:cubicBezTo>
                  <a:lnTo>
                    <a:pt x="1270000" y="1016000"/>
                  </a:lnTo>
                  <a:cubicBezTo>
                    <a:pt x="1270000" y="1086140"/>
                    <a:pt x="1213140" y="1143000"/>
                    <a:pt x="1143000" y="1143000"/>
                  </a:cubicBezTo>
                  <a:lnTo>
                    <a:pt x="127000" y="1143000"/>
                  </a:lnTo>
                  <a:cubicBezTo>
                    <a:pt x="56860" y="1143000"/>
                    <a:pt x="0" y="1086140"/>
                    <a:pt x="0" y="1016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2563EB"/>
            </a:solidFill>
            <a:ln cap="sq">
              <a:noFill/>
              <a:prstDash val="solid"/>
              <a:miter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0" y="-38100"/>
              <a:ext cx="1270000" cy="118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r>
                <a:rPr lang="en-US" sz="1950" b="1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70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857250" y="9715500"/>
            <a:ext cx="16573500" cy="203835"/>
            <a:chOff x="0" y="0"/>
            <a:chExt cx="22098000" cy="271780"/>
          </a:xfrm>
        </p:grpSpPr>
        <p:sp>
          <p:nvSpPr>
            <p:cNvPr id="50" name="TextBox 50"/>
            <p:cNvSpPr txBox="1"/>
            <p:nvPr/>
          </p:nvSpPr>
          <p:spPr>
            <a:xfrm>
              <a:off x="0" y="-28575"/>
              <a:ext cx="8890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>
                  <a:solidFill>
                    <a:srgbClr val="607086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BINARY SEARCH  /  SORTED ARRAYS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0955000" y="-28575"/>
              <a:ext cx="1143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889"/>
                </a:lnSpc>
              </a:pPr>
              <a:r>
                <a:rPr lang="en-US" sz="1350">
                  <a:solidFill>
                    <a:srgbClr val="2563EB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7250" y="457200"/>
            <a:ext cx="16573500" cy="762000"/>
            <a:chOff x="0" y="0"/>
            <a:chExt cx="22098000" cy="1016000"/>
          </a:xfrm>
        </p:grpSpPr>
        <p:sp>
          <p:nvSpPr>
            <p:cNvPr id="3" name="TextBox 3"/>
            <p:cNvSpPr txBox="1"/>
            <p:nvPr/>
          </p:nvSpPr>
          <p:spPr>
            <a:xfrm>
              <a:off x="0" y="63500"/>
              <a:ext cx="1524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>
                  <a:solidFill>
                    <a:srgbClr val="2563EB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778000" y="-19050"/>
              <a:ext cx="19050000" cy="8039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095"/>
                </a:lnSpc>
              </a:pPr>
              <a:r>
                <a:rPr lang="en-US" sz="3900" b="1">
                  <a:solidFill>
                    <a:srgbClr val="132033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Divide and Conquer</a:t>
              </a:r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990600"/>
              <a:ext cx="22098000" cy="25400"/>
              <a:chOff x="0" y="0"/>
              <a:chExt cx="22098000" cy="254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20980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2098000" h="25400">
                    <a:moveTo>
                      <a:pt x="0" y="0"/>
                    </a:moveTo>
                    <a:lnTo>
                      <a:pt x="22098000" y="0"/>
                    </a:lnTo>
                    <a:lnTo>
                      <a:pt x="220980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CBD5E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22098000" cy="63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sp>
        <p:nvSpPr>
          <p:cNvPr id="8" name="TextBox 8"/>
          <p:cNvSpPr txBox="1"/>
          <p:nvPr/>
        </p:nvSpPr>
        <p:spPr>
          <a:xfrm>
            <a:off x="1047750" y="1533525"/>
            <a:ext cx="13335000" cy="35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132033"/>
                </a:solidFill>
                <a:latin typeface="IBM Plex Sans"/>
                <a:ea typeface="IBM Plex Sans"/>
                <a:cs typeface="IBM Plex Sans"/>
                <a:sym typeface="IBM Plex Sans"/>
              </a:rPr>
              <a:t>low and high bound the active search space. mid tests its center.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47750" y="2962275"/>
            <a:ext cx="19050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2563EB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low = 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429500" y="2962275"/>
            <a:ext cx="20955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1">
                <a:solidFill>
                  <a:srgbClr val="FB7185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mid = 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668500" y="2962275"/>
            <a:ext cx="20955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 b="1">
                <a:solidFill>
                  <a:srgbClr val="2563EB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high = 8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47750" y="3619500"/>
            <a:ext cx="1524000" cy="1143000"/>
            <a:chOff x="0" y="0"/>
            <a:chExt cx="2032000" cy="1524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032000" cy="1524000"/>
            </a:xfrm>
            <a:custGeom>
              <a:avLst/>
              <a:gdLst/>
              <a:ahLst/>
              <a:cxnLst/>
              <a:rect l="l" t="t" r="r" b="b"/>
              <a:pathLst>
                <a:path w="2032000" h="1524000">
                  <a:moveTo>
                    <a:pt x="79375" y="0"/>
                  </a:moveTo>
                  <a:lnTo>
                    <a:pt x="1952625" y="0"/>
                  </a:lnTo>
                  <a:cubicBezTo>
                    <a:pt x="1996463" y="0"/>
                    <a:pt x="2032000" y="35537"/>
                    <a:pt x="2032000" y="79375"/>
                  </a:cubicBezTo>
                  <a:lnTo>
                    <a:pt x="2032000" y="1444625"/>
                  </a:lnTo>
                  <a:cubicBezTo>
                    <a:pt x="2032000" y="1488463"/>
                    <a:pt x="1996463" y="1524000"/>
                    <a:pt x="1952625" y="1524000"/>
                  </a:cubicBezTo>
                  <a:lnTo>
                    <a:pt x="79375" y="1524000"/>
                  </a:lnTo>
                  <a:cubicBezTo>
                    <a:pt x="35537" y="1524000"/>
                    <a:pt x="0" y="1488463"/>
                    <a:pt x="0" y="1444625"/>
                  </a:cubicBezTo>
                  <a:lnTo>
                    <a:pt x="0" y="79375"/>
                  </a:lnTo>
                  <a:cubicBezTo>
                    <a:pt x="0" y="35537"/>
                    <a:pt x="35537" y="0"/>
                    <a:pt x="79375" y="0"/>
                  </a:cubicBezTo>
                  <a:close/>
                </a:path>
              </a:pathLst>
            </a:custGeom>
            <a:solidFill>
              <a:srgbClr val="DBEAFE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032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r>
                <a:rPr lang="en-US" sz="1950" b="1">
                  <a:solidFill>
                    <a:srgbClr val="132033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10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809875" y="3619500"/>
            <a:ext cx="1524000" cy="1143000"/>
            <a:chOff x="0" y="0"/>
            <a:chExt cx="2032000" cy="1524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032000" cy="1524000"/>
            </a:xfrm>
            <a:custGeom>
              <a:avLst/>
              <a:gdLst/>
              <a:ahLst/>
              <a:cxnLst/>
              <a:rect l="l" t="t" r="r" b="b"/>
              <a:pathLst>
                <a:path w="2032000" h="1524000">
                  <a:moveTo>
                    <a:pt x="79375" y="0"/>
                  </a:moveTo>
                  <a:lnTo>
                    <a:pt x="1952625" y="0"/>
                  </a:lnTo>
                  <a:cubicBezTo>
                    <a:pt x="1996463" y="0"/>
                    <a:pt x="2032000" y="35537"/>
                    <a:pt x="2032000" y="79375"/>
                  </a:cubicBezTo>
                  <a:lnTo>
                    <a:pt x="2032000" y="1444625"/>
                  </a:lnTo>
                  <a:cubicBezTo>
                    <a:pt x="2032000" y="1488463"/>
                    <a:pt x="1996463" y="1524000"/>
                    <a:pt x="1952625" y="1524000"/>
                  </a:cubicBezTo>
                  <a:lnTo>
                    <a:pt x="79375" y="1524000"/>
                  </a:lnTo>
                  <a:cubicBezTo>
                    <a:pt x="35537" y="1524000"/>
                    <a:pt x="0" y="1488463"/>
                    <a:pt x="0" y="1444625"/>
                  </a:cubicBezTo>
                  <a:lnTo>
                    <a:pt x="0" y="79375"/>
                  </a:lnTo>
                  <a:cubicBezTo>
                    <a:pt x="0" y="35537"/>
                    <a:pt x="35537" y="0"/>
                    <a:pt x="79375" y="0"/>
                  </a:cubicBezTo>
                  <a:close/>
                </a:path>
              </a:pathLst>
            </a:custGeom>
            <a:solidFill>
              <a:srgbClr val="DBEAFE"/>
            </a:solidFill>
            <a:ln cap="sq">
              <a:noFill/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032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r>
                <a:rPr lang="en-US" sz="1950" b="1">
                  <a:solidFill>
                    <a:srgbClr val="132033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20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572000" y="3619500"/>
            <a:ext cx="1524000" cy="1143000"/>
            <a:chOff x="0" y="0"/>
            <a:chExt cx="2032000" cy="1524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032000" cy="1524000"/>
            </a:xfrm>
            <a:custGeom>
              <a:avLst/>
              <a:gdLst/>
              <a:ahLst/>
              <a:cxnLst/>
              <a:rect l="l" t="t" r="r" b="b"/>
              <a:pathLst>
                <a:path w="2032000" h="1524000">
                  <a:moveTo>
                    <a:pt x="79375" y="0"/>
                  </a:moveTo>
                  <a:lnTo>
                    <a:pt x="1952625" y="0"/>
                  </a:lnTo>
                  <a:cubicBezTo>
                    <a:pt x="1996463" y="0"/>
                    <a:pt x="2032000" y="35537"/>
                    <a:pt x="2032000" y="79375"/>
                  </a:cubicBezTo>
                  <a:lnTo>
                    <a:pt x="2032000" y="1444625"/>
                  </a:lnTo>
                  <a:cubicBezTo>
                    <a:pt x="2032000" y="1488463"/>
                    <a:pt x="1996463" y="1524000"/>
                    <a:pt x="1952625" y="1524000"/>
                  </a:cubicBezTo>
                  <a:lnTo>
                    <a:pt x="79375" y="1524000"/>
                  </a:lnTo>
                  <a:cubicBezTo>
                    <a:pt x="35537" y="1524000"/>
                    <a:pt x="0" y="1488463"/>
                    <a:pt x="0" y="1444625"/>
                  </a:cubicBezTo>
                  <a:lnTo>
                    <a:pt x="0" y="79375"/>
                  </a:lnTo>
                  <a:cubicBezTo>
                    <a:pt x="0" y="35537"/>
                    <a:pt x="35537" y="0"/>
                    <a:pt x="79375" y="0"/>
                  </a:cubicBezTo>
                  <a:close/>
                </a:path>
              </a:pathLst>
            </a:custGeom>
            <a:solidFill>
              <a:srgbClr val="DBEAFE"/>
            </a:solidFill>
            <a:ln cap="sq">
              <a:noFill/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032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r>
                <a:rPr lang="en-US" sz="1950" b="1">
                  <a:solidFill>
                    <a:srgbClr val="132033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30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334125" y="3619500"/>
            <a:ext cx="1524000" cy="1143000"/>
            <a:chOff x="0" y="0"/>
            <a:chExt cx="2032000" cy="15240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032000" cy="1524000"/>
            </a:xfrm>
            <a:custGeom>
              <a:avLst/>
              <a:gdLst/>
              <a:ahLst/>
              <a:cxnLst/>
              <a:rect l="l" t="t" r="r" b="b"/>
              <a:pathLst>
                <a:path w="2032000" h="1524000">
                  <a:moveTo>
                    <a:pt x="79375" y="0"/>
                  </a:moveTo>
                  <a:lnTo>
                    <a:pt x="1952625" y="0"/>
                  </a:lnTo>
                  <a:cubicBezTo>
                    <a:pt x="1996463" y="0"/>
                    <a:pt x="2032000" y="35537"/>
                    <a:pt x="2032000" y="79375"/>
                  </a:cubicBezTo>
                  <a:lnTo>
                    <a:pt x="2032000" y="1444625"/>
                  </a:lnTo>
                  <a:cubicBezTo>
                    <a:pt x="2032000" y="1488463"/>
                    <a:pt x="1996463" y="1524000"/>
                    <a:pt x="1952625" y="1524000"/>
                  </a:cubicBezTo>
                  <a:lnTo>
                    <a:pt x="79375" y="1524000"/>
                  </a:lnTo>
                  <a:cubicBezTo>
                    <a:pt x="35537" y="1524000"/>
                    <a:pt x="0" y="1488463"/>
                    <a:pt x="0" y="1444625"/>
                  </a:cubicBezTo>
                  <a:lnTo>
                    <a:pt x="0" y="79375"/>
                  </a:lnTo>
                  <a:cubicBezTo>
                    <a:pt x="0" y="35537"/>
                    <a:pt x="35537" y="0"/>
                    <a:pt x="79375" y="0"/>
                  </a:cubicBezTo>
                  <a:close/>
                </a:path>
              </a:pathLst>
            </a:custGeom>
            <a:solidFill>
              <a:srgbClr val="DBEAFE"/>
            </a:solidFill>
            <a:ln cap="sq">
              <a:noFill/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2032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r>
                <a:rPr lang="en-US" sz="1950" b="1">
                  <a:solidFill>
                    <a:srgbClr val="132033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40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096250" y="3619500"/>
            <a:ext cx="1524000" cy="1143000"/>
            <a:chOff x="0" y="0"/>
            <a:chExt cx="2032000" cy="15240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032000" cy="1524000"/>
            </a:xfrm>
            <a:custGeom>
              <a:avLst/>
              <a:gdLst/>
              <a:ahLst/>
              <a:cxnLst/>
              <a:rect l="l" t="t" r="r" b="b"/>
              <a:pathLst>
                <a:path w="2032000" h="1524000">
                  <a:moveTo>
                    <a:pt x="79375" y="0"/>
                  </a:moveTo>
                  <a:lnTo>
                    <a:pt x="1952625" y="0"/>
                  </a:lnTo>
                  <a:cubicBezTo>
                    <a:pt x="1996463" y="0"/>
                    <a:pt x="2032000" y="35537"/>
                    <a:pt x="2032000" y="79375"/>
                  </a:cubicBezTo>
                  <a:lnTo>
                    <a:pt x="2032000" y="1444625"/>
                  </a:lnTo>
                  <a:cubicBezTo>
                    <a:pt x="2032000" y="1488463"/>
                    <a:pt x="1996463" y="1524000"/>
                    <a:pt x="1952625" y="1524000"/>
                  </a:cubicBezTo>
                  <a:lnTo>
                    <a:pt x="79375" y="1524000"/>
                  </a:lnTo>
                  <a:cubicBezTo>
                    <a:pt x="35537" y="1524000"/>
                    <a:pt x="0" y="1488463"/>
                    <a:pt x="0" y="1444625"/>
                  </a:cubicBezTo>
                  <a:lnTo>
                    <a:pt x="0" y="79375"/>
                  </a:lnTo>
                  <a:cubicBezTo>
                    <a:pt x="0" y="35537"/>
                    <a:pt x="35537" y="0"/>
                    <a:pt x="79375" y="0"/>
                  </a:cubicBezTo>
                  <a:close/>
                </a:path>
              </a:pathLst>
            </a:custGeom>
            <a:solidFill>
              <a:srgbClr val="FB7185"/>
            </a:solidFill>
            <a:ln cap="sq">
              <a:noFill/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2032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r>
                <a:rPr lang="en-US" sz="1950" b="1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50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858375" y="3619500"/>
            <a:ext cx="1524000" cy="1143000"/>
            <a:chOff x="0" y="0"/>
            <a:chExt cx="2032000" cy="15240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032000" cy="1524000"/>
            </a:xfrm>
            <a:custGeom>
              <a:avLst/>
              <a:gdLst/>
              <a:ahLst/>
              <a:cxnLst/>
              <a:rect l="l" t="t" r="r" b="b"/>
              <a:pathLst>
                <a:path w="2032000" h="1524000">
                  <a:moveTo>
                    <a:pt x="79375" y="0"/>
                  </a:moveTo>
                  <a:lnTo>
                    <a:pt x="1952625" y="0"/>
                  </a:lnTo>
                  <a:cubicBezTo>
                    <a:pt x="1996463" y="0"/>
                    <a:pt x="2032000" y="35537"/>
                    <a:pt x="2032000" y="79375"/>
                  </a:cubicBezTo>
                  <a:lnTo>
                    <a:pt x="2032000" y="1444625"/>
                  </a:lnTo>
                  <a:cubicBezTo>
                    <a:pt x="2032000" y="1488463"/>
                    <a:pt x="1996463" y="1524000"/>
                    <a:pt x="1952625" y="1524000"/>
                  </a:cubicBezTo>
                  <a:lnTo>
                    <a:pt x="79375" y="1524000"/>
                  </a:lnTo>
                  <a:cubicBezTo>
                    <a:pt x="35537" y="1524000"/>
                    <a:pt x="0" y="1488463"/>
                    <a:pt x="0" y="1444625"/>
                  </a:cubicBezTo>
                  <a:lnTo>
                    <a:pt x="0" y="79375"/>
                  </a:lnTo>
                  <a:cubicBezTo>
                    <a:pt x="0" y="35537"/>
                    <a:pt x="35537" y="0"/>
                    <a:pt x="79375" y="0"/>
                  </a:cubicBezTo>
                  <a:close/>
                </a:path>
              </a:pathLst>
            </a:custGeom>
            <a:solidFill>
              <a:srgbClr val="E2E8F0"/>
            </a:solidFill>
            <a:ln cap="sq">
              <a:noFill/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2032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r>
                <a:rPr lang="en-US" sz="1950" b="1">
                  <a:solidFill>
                    <a:srgbClr val="132033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60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1620500" y="3619500"/>
            <a:ext cx="1524000" cy="1143000"/>
            <a:chOff x="0" y="0"/>
            <a:chExt cx="2032000" cy="15240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032000" cy="1524000"/>
            </a:xfrm>
            <a:custGeom>
              <a:avLst/>
              <a:gdLst/>
              <a:ahLst/>
              <a:cxnLst/>
              <a:rect l="l" t="t" r="r" b="b"/>
              <a:pathLst>
                <a:path w="2032000" h="1524000">
                  <a:moveTo>
                    <a:pt x="79375" y="0"/>
                  </a:moveTo>
                  <a:lnTo>
                    <a:pt x="1952625" y="0"/>
                  </a:lnTo>
                  <a:cubicBezTo>
                    <a:pt x="1996463" y="0"/>
                    <a:pt x="2032000" y="35537"/>
                    <a:pt x="2032000" y="79375"/>
                  </a:cubicBezTo>
                  <a:lnTo>
                    <a:pt x="2032000" y="1444625"/>
                  </a:lnTo>
                  <a:cubicBezTo>
                    <a:pt x="2032000" y="1488463"/>
                    <a:pt x="1996463" y="1524000"/>
                    <a:pt x="1952625" y="1524000"/>
                  </a:cubicBezTo>
                  <a:lnTo>
                    <a:pt x="79375" y="1524000"/>
                  </a:lnTo>
                  <a:cubicBezTo>
                    <a:pt x="35537" y="1524000"/>
                    <a:pt x="0" y="1488463"/>
                    <a:pt x="0" y="1444625"/>
                  </a:cubicBezTo>
                  <a:lnTo>
                    <a:pt x="0" y="79375"/>
                  </a:lnTo>
                  <a:cubicBezTo>
                    <a:pt x="0" y="35537"/>
                    <a:pt x="35537" y="0"/>
                    <a:pt x="79375" y="0"/>
                  </a:cubicBezTo>
                  <a:close/>
                </a:path>
              </a:pathLst>
            </a:custGeom>
            <a:solidFill>
              <a:srgbClr val="E2E8F0"/>
            </a:solidFill>
            <a:ln cap="sq">
              <a:noFill/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2032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r>
                <a:rPr lang="en-US" sz="1950" b="1">
                  <a:solidFill>
                    <a:srgbClr val="132033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70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3382625" y="3619500"/>
            <a:ext cx="1524000" cy="1143000"/>
            <a:chOff x="0" y="0"/>
            <a:chExt cx="2032000" cy="15240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032000" cy="1524000"/>
            </a:xfrm>
            <a:custGeom>
              <a:avLst/>
              <a:gdLst/>
              <a:ahLst/>
              <a:cxnLst/>
              <a:rect l="l" t="t" r="r" b="b"/>
              <a:pathLst>
                <a:path w="2032000" h="1524000">
                  <a:moveTo>
                    <a:pt x="79375" y="0"/>
                  </a:moveTo>
                  <a:lnTo>
                    <a:pt x="1952625" y="0"/>
                  </a:lnTo>
                  <a:cubicBezTo>
                    <a:pt x="1996463" y="0"/>
                    <a:pt x="2032000" y="35537"/>
                    <a:pt x="2032000" y="79375"/>
                  </a:cubicBezTo>
                  <a:lnTo>
                    <a:pt x="2032000" y="1444625"/>
                  </a:lnTo>
                  <a:cubicBezTo>
                    <a:pt x="2032000" y="1488463"/>
                    <a:pt x="1996463" y="1524000"/>
                    <a:pt x="1952625" y="1524000"/>
                  </a:cubicBezTo>
                  <a:lnTo>
                    <a:pt x="79375" y="1524000"/>
                  </a:lnTo>
                  <a:cubicBezTo>
                    <a:pt x="35537" y="1524000"/>
                    <a:pt x="0" y="1488463"/>
                    <a:pt x="0" y="1444625"/>
                  </a:cubicBezTo>
                  <a:lnTo>
                    <a:pt x="0" y="79375"/>
                  </a:lnTo>
                  <a:cubicBezTo>
                    <a:pt x="0" y="35537"/>
                    <a:pt x="35537" y="0"/>
                    <a:pt x="79375" y="0"/>
                  </a:cubicBezTo>
                  <a:close/>
                </a:path>
              </a:pathLst>
            </a:custGeom>
            <a:solidFill>
              <a:srgbClr val="E2E8F0"/>
            </a:solidFill>
            <a:ln cap="sq">
              <a:noFill/>
              <a:prstDash val="solid"/>
              <a:miter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2032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r>
                <a:rPr lang="en-US" sz="1950" b="1">
                  <a:solidFill>
                    <a:srgbClr val="132033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80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5144750" y="3619500"/>
            <a:ext cx="1524000" cy="1143000"/>
            <a:chOff x="0" y="0"/>
            <a:chExt cx="2032000" cy="15240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032000" cy="1524000"/>
            </a:xfrm>
            <a:custGeom>
              <a:avLst/>
              <a:gdLst/>
              <a:ahLst/>
              <a:cxnLst/>
              <a:rect l="l" t="t" r="r" b="b"/>
              <a:pathLst>
                <a:path w="2032000" h="1524000">
                  <a:moveTo>
                    <a:pt x="79375" y="0"/>
                  </a:moveTo>
                  <a:lnTo>
                    <a:pt x="1952625" y="0"/>
                  </a:lnTo>
                  <a:cubicBezTo>
                    <a:pt x="1996463" y="0"/>
                    <a:pt x="2032000" y="35537"/>
                    <a:pt x="2032000" y="79375"/>
                  </a:cubicBezTo>
                  <a:lnTo>
                    <a:pt x="2032000" y="1444625"/>
                  </a:lnTo>
                  <a:cubicBezTo>
                    <a:pt x="2032000" y="1488463"/>
                    <a:pt x="1996463" y="1524000"/>
                    <a:pt x="1952625" y="1524000"/>
                  </a:cubicBezTo>
                  <a:lnTo>
                    <a:pt x="79375" y="1524000"/>
                  </a:lnTo>
                  <a:cubicBezTo>
                    <a:pt x="35537" y="1524000"/>
                    <a:pt x="0" y="1488463"/>
                    <a:pt x="0" y="1444625"/>
                  </a:cubicBezTo>
                  <a:lnTo>
                    <a:pt x="0" y="79375"/>
                  </a:lnTo>
                  <a:cubicBezTo>
                    <a:pt x="0" y="35537"/>
                    <a:pt x="35537" y="0"/>
                    <a:pt x="79375" y="0"/>
                  </a:cubicBezTo>
                  <a:close/>
                </a:path>
              </a:pathLst>
            </a:custGeom>
            <a:solidFill>
              <a:srgbClr val="E2E8F0"/>
            </a:solidFill>
            <a:ln cap="sq">
              <a:noFill/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2032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r>
                <a:rPr lang="en-US" sz="1950" b="1">
                  <a:solidFill>
                    <a:srgbClr val="132033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90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047750" y="5400675"/>
            <a:ext cx="7239000" cy="50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7"/>
              </a:lnSpc>
            </a:pPr>
            <a:r>
              <a:rPr lang="en-US" sz="3150" b="1">
                <a:solidFill>
                  <a:srgbClr val="132033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Compare target with arr[mid]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47750" y="6162675"/>
            <a:ext cx="6572250" cy="1128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132033"/>
                </a:solidFill>
                <a:latin typeface="IBM Plex Sans"/>
                <a:ea typeface="IBM Plex Sans"/>
                <a:cs typeface="IBM Plex Sans"/>
                <a:sym typeface="IBM Plex Sans"/>
              </a:rPr>
              <a:t>equal → found</a:t>
            </a:r>
          </a:p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132033"/>
                </a:solidFill>
                <a:latin typeface="IBM Plex Sans"/>
                <a:ea typeface="IBM Plex Sans"/>
                <a:cs typeface="IBM Plex Sans"/>
                <a:sym typeface="IBM Plex Sans"/>
              </a:rPr>
              <a:t>smaller → keep left half</a:t>
            </a:r>
          </a:p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132033"/>
                </a:solidFill>
                <a:latin typeface="IBM Plex Sans"/>
                <a:ea typeface="IBM Plex Sans"/>
                <a:cs typeface="IBM Plex Sans"/>
                <a:sym typeface="IBM Plex Sans"/>
              </a:rPr>
              <a:t>larger → keep right half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001250" y="6477000"/>
            <a:ext cx="6191250" cy="870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39"/>
              </a:lnSpc>
            </a:pPr>
            <a:r>
              <a:rPr lang="en-US" sz="5100" b="1">
                <a:solidFill>
                  <a:srgbClr val="2563EB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9 → 4 → 2 → 1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477500" y="7581900"/>
            <a:ext cx="523875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1">
                <a:solidFill>
                  <a:srgbClr val="607086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SEARCH SPACE SHRINKS</a:t>
            </a:r>
          </a:p>
        </p:txBody>
      </p:sp>
      <p:sp>
        <p:nvSpPr>
          <p:cNvPr id="43" name="AutoShape 43"/>
          <p:cNvSpPr/>
          <p:nvPr/>
        </p:nvSpPr>
        <p:spPr>
          <a:xfrm>
            <a:off x="1619250" y="3333750"/>
            <a:ext cx="190500" cy="238125"/>
          </a:xfrm>
          <a:prstGeom prst="line">
            <a:avLst/>
          </a:prstGeom>
          <a:ln w="38100" cap="flat">
            <a:solidFill>
              <a:srgbClr val="2563E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4" name="AutoShape 44"/>
          <p:cNvSpPr/>
          <p:nvPr/>
        </p:nvSpPr>
        <p:spPr>
          <a:xfrm>
            <a:off x="8286750" y="3333750"/>
            <a:ext cx="0" cy="238125"/>
          </a:xfrm>
          <a:prstGeom prst="line">
            <a:avLst/>
          </a:prstGeom>
          <a:ln w="38100" cap="flat">
            <a:solidFill>
              <a:srgbClr val="FB718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5" name="AutoShape 45"/>
          <p:cNvSpPr/>
          <p:nvPr/>
        </p:nvSpPr>
        <p:spPr>
          <a:xfrm>
            <a:off x="15621000" y="3333750"/>
            <a:ext cx="95250" cy="238125"/>
          </a:xfrm>
          <a:prstGeom prst="line">
            <a:avLst/>
          </a:prstGeom>
          <a:ln w="38100" cap="flat">
            <a:solidFill>
              <a:srgbClr val="2563EB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6" name="Group 46"/>
          <p:cNvGrpSpPr/>
          <p:nvPr/>
        </p:nvGrpSpPr>
        <p:grpSpPr>
          <a:xfrm>
            <a:off x="857250" y="9715500"/>
            <a:ext cx="16573500" cy="203835"/>
            <a:chOff x="0" y="0"/>
            <a:chExt cx="22098000" cy="271780"/>
          </a:xfrm>
        </p:grpSpPr>
        <p:sp>
          <p:nvSpPr>
            <p:cNvPr id="47" name="TextBox 47"/>
            <p:cNvSpPr txBox="1"/>
            <p:nvPr/>
          </p:nvSpPr>
          <p:spPr>
            <a:xfrm>
              <a:off x="0" y="-28575"/>
              <a:ext cx="8890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>
                  <a:solidFill>
                    <a:srgbClr val="607086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BINARY SEARCH  /  SORTED ARRAYS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0955000" y="-28575"/>
              <a:ext cx="1143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889"/>
                </a:lnSpc>
              </a:pPr>
              <a:r>
                <a:rPr lang="en-US" sz="1350">
                  <a:solidFill>
                    <a:srgbClr val="2563EB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7250" y="457200"/>
            <a:ext cx="16573500" cy="762000"/>
            <a:chOff x="0" y="0"/>
            <a:chExt cx="22098000" cy="1016000"/>
          </a:xfrm>
        </p:grpSpPr>
        <p:sp>
          <p:nvSpPr>
            <p:cNvPr id="3" name="TextBox 3"/>
            <p:cNvSpPr txBox="1"/>
            <p:nvPr/>
          </p:nvSpPr>
          <p:spPr>
            <a:xfrm>
              <a:off x="0" y="63500"/>
              <a:ext cx="1524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04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778000" y="-19050"/>
              <a:ext cx="19050000" cy="8039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095"/>
                </a:lnSpc>
              </a:pPr>
              <a:r>
                <a:rPr lang="en-US" sz="3900" b="1">
                  <a:solidFill>
                    <a:srgbClr val="FFFF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Algorithm + Pseudocode</a:t>
              </a:r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990600"/>
              <a:ext cx="22098000" cy="25400"/>
              <a:chOff x="0" y="0"/>
              <a:chExt cx="22098000" cy="254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20980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2098000" h="25400">
                    <a:moveTo>
                      <a:pt x="0" y="0"/>
                    </a:moveTo>
                    <a:lnTo>
                      <a:pt x="22098000" y="0"/>
                    </a:lnTo>
                    <a:lnTo>
                      <a:pt x="220980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29405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22098000" cy="63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grpSp>
        <p:nvGrpSpPr>
          <p:cNvPr id="8" name="Group 8"/>
          <p:cNvGrpSpPr/>
          <p:nvPr/>
        </p:nvGrpSpPr>
        <p:grpSpPr>
          <a:xfrm>
            <a:off x="857250" y="1571625"/>
            <a:ext cx="9429750" cy="7429500"/>
            <a:chOff x="0" y="0"/>
            <a:chExt cx="12573000" cy="990600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12573000" cy="9906000"/>
              <a:chOff x="0" y="0"/>
              <a:chExt cx="12573000" cy="99060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2573000" cy="9906000"/>
              </a:xfrm>
              <a:custGeom>
                <a:avLst/>
                <a:gdLst/>
                <a:ahLst/>
                <a:cxnLst/>
                <a:rect l="l" t="t" r="r" b="b"/>
                <a:pathLst>
                  <a:path w="12573000" h="9906000">
                    <a:moveTo>
                      <a:pt x="0" y="0"/>
                    </a:moveTo>
                    <a:lnTo>
                      <a:pt x="12573000" y="0"/>
                    </a:lnTo>
                    <a:lnTo>
                      <a:pt x="12573000" y="9906000"/>
                    </a:lnTo>
                    <a:lnTo>
                      <a:pt x="0" y="9906000"/>
                    </a:lnTo>
                    <a:close/>
                  </a:path>
                </a:pathLst>
              </a:custGeom>
              <a:solidFill>
                <a:srgbClr val="111D2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12573000" cy="9944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381000" y="260350"/>
              <a:ext cx="11430000" cy="74326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53"/>
                </a:lnSpc>
              </a:pPr>
              <a:r>
                <a:rPr lang="en-US" sz="2175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low ← 0</a:t>
              </a:r>
            </a:p>
            <a:p>
              <a:pPr algn="l">
                <a:lnSpc>
                  <a:spcPts val="3153"/>
                </a:lnSpc>
              </a:pPr>
              <a:r>
                <a:rPr lang="en-US" sz="2175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high ← n − 1</a:t>
              </a:r>
            </a:p>
            <a:p>
              <a:pPr algn="l">
                <a:lnSpc>
                  <a:spcPts val="3153"/>
                </a:lnSpc>
              </a:pPr>
              <a:endParaRPr lang="en-US" sz="2175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  <a:p>
              <a:pPr algn="l">
                <a:lnSpc>
                  <a:spcPts val="3153"/>
                </a:lnSpc>
              </a:pPr>
              <a:r>
                <a:rPr lang="en-US" sz="2175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while low ≤ high</a:t>
              </a:r>
            </a:p>
            <a:p>
              <a:pPr algn="l">
                <a:lnSpc>
                  <a:spcPts val="3153"/>
                </a:lnSpc>
              </a:pPr>
              <a:r>
                <a:rPr lang="en-US" sz="2175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mid ← low + (high − low) / 2</a:t>
              </a:r>
            </a:p>
            <a:p>
              <a:pPr algn="l">
                <a:lnSpc>
                  <a:spcPts val="3153"/>
                </a:lnSpc>
              </a:pPr>
              <a:endParaRPr lang="en-US" sz="2175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  <a:p>
              <a:pPr algn="l">
                <a:lnSpc>
                  <a:spcPts val="3153"/>
                </a:lnSpc>
              </a:pPr>
              <a:r>
                <a:rPr lang="en-US" sz="2175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if arr[mid] = target</a:t>
              </a:r>
            </a:p>
            <a:p>
              <a:pPr algn="l">
                <a:lnSpc>
                  <a:spcPts val="3153"/>
                </a:lnSpc>
              </a:pPr>
              <a:r>
                <a:rPr lang="en-US" sz="2175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    return mid</a:t>
              </a:r>
            </a:p>
            <a:p>
              <a:pPr algn="l">
                <a:lnSpc>
                  <a:spcPts val="3153"/>
                </a:lnSpc>
              </a:pPr>
              <a:r>
                <a:rPr lang="en-US" sz="2175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else if arr[mid] &lt; target</a:t>
              </a:r>
            </a:p>
            <a:p>
              <a:pPr algn="l">
                <a:lnSpc>
                  <a:spcPts val="3153"/>
                </a:lnSpc>
              </a:pPr>
              <a:r>
                <a:rPr lang="en-US" sz="2175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    low ← mid + 1</a:t>
              </a:r>
            </a:p>
            <a:p>
              <a:pPr algn="l">
                <a:lnSpc>
                  <a:spcPts val="3153"/>
                </a:lnSpc>
              </a:pPr>
              <a:r>
                <a:rPr lang="en-US" sz="2175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else</a:t>
              </a:r>
            </a:p>
            <a:p>
              <a:pPr algn="l">
                <a:lnSpc>
                  <a:spcPts val="3153"/>
                </a:lnSpc>
              </a:pPr>
              <a:r>
                <a:rPr lang="en-US" sz="2175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    high ← mid − 1</a:t>
              </a:r>
            </a:p>
            <a:p>
              <a:pPr algn="l">
                <a:lnSpc>
                  <a:spcPts val="3153"/>
                </a:lnSpc>
              </a:pPr>
              <a:endParaRPr lang="en-US" sz="2175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  <a:p>
              <a:pPr algn="l">
                <a:lnSpc>
                  <a:spcPts val="3153"/>
                </a:lnSpc>
              </a:pPr>
              <a:r>
                <a:rPr lang="en-US" sz="2175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return −1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1334750" y="2057400"/>
            <a:ext cx="4762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>
                <a:solidFill>
                  <a:srgbClr val="22D3E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01  INITIALIZE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334750" y="2533650"/>
            <a:ext cx="5429250" cy="35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Set the active range from 0 to n−1.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334750" y="4057650"/>
            <a:ext cx="4762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>
                <a:solidFill>
                  <a:srgbClr val="22D3E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02  COMPARE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334750" y="4533900"/>
            <a:ext cx="5429250" cy="35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 arr[mid] against the target.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334750" y="6057900"/>
            <a:ext cx="4762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>
                <a:solidFill>
                  <a:srgbClr val="22D3E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03  DISCARD HALF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334750" y="6534150"/>
            <a:ext cx="5429250" cy="702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Move low or high. Stop when found—or when low &gt; high.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857250" y="9715500"/>
            <a:ext cx="16573500" cy="203835"/>
            <a:chOff x="0" y="0"/>
            <a:chExt cx="22098000" cy="271780"/>
          </a:xfrm>
        </p:grpSpPr>
        <p:sp>
          <p:nvSpPr>
            <p:cNvPr id="20" name="TextBox 20"/>
            <p:cNvSpPr txBox="1"/>
            <p:nvPr/>
          </p:nvSpPr>
          <p:spPr>
            <a:xfrm>
              <a:off x="0" y="-28575"/>
              <a:ext cx="8890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>
                  <a:solidFill>
                    <a:srgbClr val="8DA2B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BINARY SEARCH  /  SORTED ARRAYS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955000" y="-28575"/>
              <a:ext cx="1143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889"/>
                </a:lnSpc>
              </a:pPr>
              <a:r>
                <a:rPr lang="en-US" sz="1350">
                  <a:solidFill>
                    <a:srgbClr val="22D3EE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7250" y="457200"/>
            <a:ext cx="16573500" cy="762000"/>
            <a:chOff x="0" y="0"/>
            <a:chExt cx="22098000" cy="1016000"/>
          </a:xfrm>
        </p:grpSpPr>
        <p:sp>
          <p:nvSpPr>
            <p:cNvPr id="3" name="TextBox 3"/>
            <p:cNvSpPr txBox="1"/>
            <p:nvPr/>
          </p:nvSpPr>
          <p:spPr>
            <a:xfrm>
              <a:off x="0" y="63500"/>
              <a:ext cx="1524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>
                  <a:solidFill>
                    <a:srgbClr val="2563EB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05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778000" y="-19050"/>
              <a:ext cx="19050000" cy="8039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095"/>
                </a:lnSpc>
              </a:pPr>
              <a:r>
                <a:rPr lang="en-US" sz="3900" b="1">
                  <a:solidFill>
                    <a:srgbClr val="132033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Dry Run · target = 70</a:t>
              </a:r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990600"/>
              <a:ext cx="22098000" cy="25400"/>
              <a:chOff x="0" y="0"/>
              <a:chExt cx="22098000" cy="254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20980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2098000" h="25400">
                    <a:moveTo>
                      <a:pt x="0" y="0"/>
                    </a:moveTo>
                    <a:lnTo>
                      <a:pt x="22098000" y="0"/>
                    </a:lnTo>
                    <a:lnTo>
                      <a:pt x="220980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CBD5E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22098000" cy="63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sp>
        <p:nvSpPr>
          <p:cNvPr id="8" name="TextBox 8"/>
          <p:cNvSpPr txBox="1"/>
          <p:nvPr/>
        </p:nvSpPr>
        <p:spPr>
          <a:xfrm>
            <a:off x="1047750" y="1628775"/>
            <a:ext cx="19050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>
                <a:solidFill>
                  <a:srgbClr val="2563EB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STEP 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143250" y="1562100"/>
            <a:ext cx="10477500" cy="421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1">
                <a:solidFill>
                  <a:srgbClr val="132033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mid = 4  →  50 &lt; 70  →  low = 5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47750" y="2524125"/>
            <a:ext cx="1524000" cy="1143000"/>
            <a:chOff x="0" y="0"/>
            <a:chExt cx="2032000" cy="1524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32000" cy="1524000"/>
            </a:xfrm>
            <a:custGeom>
              <a:avLst/>
              <a:gdLst/>
              <a:ahLst/>
              <a:cxnLst/>
              <a:rect l="l" t="t" r="r" b="b"/>
              <a:pathLst>
                <a:path w="2032000" h="1524000">
                  <a:moveTo>
                    <a:pt x="79375" y="0"/>
                  </a:moveTo>
                  <a:lnTo>
                    <a:pt x="1952625" y="0"/>
                  </a:lnTo>
                  <a:cubicBezTo>
                    <a:pt x="1996463" y="0"/>
                    <a:pt x="2032000" y="35537"/>
                    <a:pt x="2032000" y="79375"/>
                  </a:cubicBezTo>
                  <a:lnTo>
                    <a:pt x="2032000" y="1444625"/>
                  </a:lnTo>
                  <a:cubicBezTo>
                    <a:pt x="2032000" y="1488463"/>
                    <a:pt x="1996463" y="1524000"/>
                    <a:pt x="1952625" y="1524000"/>
                  </a:cubicBezTo>
                  <a:lnTo>
                    <a:pt x="79375" y="1524000"/>
                  </a:lnTo>
                  <a:cubicBezTo>
                    <a:pt x="35537" y="1524000"/>
                    <a:pt x="0" y="1488463"/>
                    <a:pt x="0" y="1444625"/>
                  </a:cubicBezTo>
                  <a:lnTo>
                    <a:pt x="0" y="79375"/>
                  </a:lnTo>
                  <a:cubicBezTo>
                    <a:pt x="0" y="35537"/>
                    <a:pt x="35537" y="0"/>
                    <a:pt x="79375" y="0"/>
                  </a:cubicBezTo>
                  <a:close/>
                </a:path>
              </a:pathLst>
            </a:custGeom>
            <a:solidFill>
              <a:srgbClr val="FEE2E2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032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r>
                <a:rPr lang="en-US" sz="1950" b="1">
                  <a:solidFill>
                    <a:srgbClr val="132033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10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809875" y="2524125"/>
            <a:ext cx="1524000" cy="1143000"/>
            <a:chOff x="0" y="0"/>
            <a:chExt cx="2032000" cy="1524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032000" cy="1524000"/>
            </a:xfrm>
            <a:custGeom>
              <a:avLst/>
              <a:gdLst/>
              <a:ahLst/>
              <a:cxnLst/>
              <a:rect l="l" t="t" r="r" b="b"/>
              <a:pathLst>
                <a:path w="2032000" h="1524000">
                  <a:moveTo>
                    <a:pt x="79375" y="0"/>
                  </a:moveTo>
                  <a:lnTo>
                    <a:pt x="1952625" y="0"/>
                  </a:lnTo>
                  <a:cubicBezTo>
                    <a:pt x="1996463" y="0"/>
                    <a:pt x="2032000" y="35537"/>
                    <a:pt x="2032000" y="79375"/>
                  </a:cubicBezTo>
                  <a:lnTo>
                    <a:pt x="2032000" y="1444625"/>
                  </a:lnTo>
                  <a:cubicBezTo>
                    <a:pt x="2032000" y="1488463"/>
                    <a:pt x="1996463" y="1524000"/>
                    <a:pt x="1952625" y="1524000"/>
                  </a:cubicBezTo>
                  <a:lnTo>
                    <a:pt x="79375" y="1524000"/>
                  </a:lnTo>
                  <a:cubicBezTo>
                    <a:pt x="35537" y="1524000"/>
                    <a:pt x="0" y="1488463"/>
                    <a:pt x="0" y="1444625"/>
                  </a:cubicBezTo>
                  <a:lnTo>
                    <a:pt x="0" y="79375"/>
                  </a:lnTo>
                  <a:cubicBezTo>
                    <a:pt x="0" y="35537"/>
                    <a:pt x="35537" y="0"/>
                    <a:pt x="79375" y="0"/>
                  </a:cubicBezTo>
                  <a:close/>
                </a:path>
              </a:pathLst>
            </a:custGeom>
            <a:solidFill>
              <a:srgbClr val="FEE2E2"/>
            </a:solidFill>
            <a:ln cap="sq">
              <a:noFill/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032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r>
                <a:rPr lang="en-US" sz="1950" b="1">
                  <a:solidFill>
                    <a:srgbClr val="132033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20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572000" y="2524125"/>
            <a:ext cx="1524000" cy="1143000"/>
            <a:chOff x="0" y="0"/>
            <a:chExt cx="2032000" cy="1524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032000" cy="1524000"/>
            </a:xfrm>
            <a:custGeom>
              <a:avLst/>
              <a:gdLst/>
              <a:ahLst/>
              <a:cxnLst/>
              <a:rect l="l" t="t" r="r" b="b"/>
              <a:pathLst>
                <a:path w="2032000" h="1524000">
                  <a:moveTo>
                    <a:pt x="79375" y="0"/>
                  </a:moveTo>
                  <a:lnTo>
                    <a:pt x="1952625" y="0"/>
                  </a:lnTo>
                  <a:cubicBezTo>
                    <a:pt x="1996463" y="0"/>
                    <a:pt x="2032000" y="35537"/>
                    <a:pt x="2032000" y="79375"/>
                  </a:cubicBezTo>
                  <a:lnTo>
                    <a:pt x="2032000" y="1444625"/>
                  </a:lnTo>
                  <a:cubicBezTo>
                    <a:pt x="2032000" y="1488463"/>
                    <a:pt x="1996463" y="1524000"/>
                    <a:pt x="1952625" y="1524000"/>
                  </a:cubicBezTo>
                  <a:lnTo>
                    <a:pt x="79375" y="1524000"/>
                  </a:lnTo>
                  <a:cubicBezTo>
                    <a:pt x="35537" y="1524000"/>
                    <a:pt x="0" y="1488463"/>
                    <a:pt x="0" y="1444625"/>
                  </a:cubicBezTo>
                  <a:lnTo>
                    <a:pt x="0" y="79375"/>
                  </a:lnTo>
                  <a:cubicBezTo>
                    <a:pt x="0" y="35537"/>
                    <a:pt x="35537" y="0"/>
                    <a:pt x="79375" y="0"/>
                  </a:cubicBezTo>
                  <a:close/>
                </a:path>
              </a:pathLst>
            </a:custGeom>
            <a:solidFill>
              <a:srgbClr val="FEE2E2"/>
            </a:solidFill>
            <a:ln cap="sq">
              <a:noFill/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2032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r>
                <a:rPr lang="en-US" sz="1950" b="1">
                  <a:solidFill>
                    <a:srgbClr val="132033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30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34125" y="2524125"/>
            <a:ext cx="1524000" cy="1143000"/>
            <a:chOff x="0" y="0"/>
            <a:chExt cx="2032000" cy="1524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032000" cy="1524000"/>
            </a:xfrm>
            <a:custGeom>
              <a:avLst/>
              <a:gdLst/>
              <a:ahLst/>
              <a:cxnLst/>
              <a:rect l="l" t="t" r="r" b="b"/>
              <a:pathLst>
                <a:path w="2032000" h="1524000">
                  <a:moveTo>
                    <a:pt x="79375" y="0"/>
                  </a:moveTo>
                  <a:lnTo>
                    <a:pt x="1952625" y="0"/>
                  </a:lnTo>
                  <a:cubicBezTo>
                    <a:pt x="1996463" y="0"/>
                    <a:pt x="2032000" y="35537"/>
                    <a:pt x="2032000" y="79375"/>
                  </a:cubicBezTo>
                  <a:lnTo>
                    <a:pt x="2032000" y="1444625"/>
                  </a:lnTo>
                  <a:cubicBezTo>
                    <a:pt x="2032000" y="1488463"/>
                    <a:pt x="1996463" y="1524000"/>
                    <a:pt x="1952625" y="1524000"/>
                  </a:cubicBezTo>
                  <a:lnTo>
                    <a:pt x="79375" y="1524000"/>
                  </a:lnTo>
                  <a:cubicBezTo>
                    <a:pt x="35537" y="1524000"/>
                    <a:pt x="0" y="1488463"/>
                    <a:pt x="0" y="1444625"/>
                  </a:cubicBezTo>
                  <a:lnTo>
                    <a:pt x="0" y="79375"/>
                  </a:lnTo>
                  <a:cubicBezTo>
                    <a:pt x="0" y="35537"/>
                    <a:pt x="35537" y="0"/>
                    <a:pt x="79375" y="0"/>
                  </a:cubicBezTo>
                  <a:close/>
                </a:path>
              </a:pathLst>
            </a:custGeom>
            <a:solidFill>
              <a:srgbClr val="FEE2E2"/>
            </a:solidFill>
            <a:ln cap="sq">
              <a:noFill/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2032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r>
                <a:rPr lang="en-US" sz="1950" b="1">
                  <a:solidFill>
                    <a:srgbClr val="132033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40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096250" y="2524125"/>
            <a:ext cx="1524000" cy="1143000"/>
            <a:chOff x="0" y="0"/>
            <a:chExt cx="2032000" cy="15240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032000" cy="1524000"/>
            </a:xfrm>
            <a:custGeom>
              <a:avLst/>
              <a:gdLst/>
              <a:ahLst/>
              <a:cxnLst/>
              <a:rect l="l" t="t" r="r" b="b"/>
              <a:pathLst>
                <a:path w="2032000" h="1524000">
                  <a:moveTo>
                    <a:pt x="79375" y="0"/>
                  </a:moveTo>
                  <a:lnTo>
                    <a:pt x="1952625" y="0"/>
                  </a:lnTo>
                  <a:cubicBezTo>
                    <a:pt x="1996463" y="0"/>
                    <a:pt x="2032000" y="35537"/>
                    <a:pt x="2032000" y="79375"/>
                  </a:cubicBezTo>
                  <a:lnTo>
                    <a:pt x="2032000" y="1444625"/>
                  </a:lnTo>
                  <a:cubicBezTo>
                    <a:pt x="2032000" y="1488463"/>
                    <a:pt x="1996463" y="1524000"/>
                    <a:pt x="1952625" y="1524000"/>
                  </a:cubicBezTo>
                  <a:lnTo>
                    <a:pt x="79375" y="1524000"/>
                  </a:lnTo>
                  <a:cubicBezTo>
                    <a:pt x="35537" y="1524000"/>
                    <a:pt x="0" y="1488463"/>
                    <a:pt x="0" y="1444625"/>
                  </a:cubicBezTo>
                  <a:lnTo>
                    <a:pt x="0" y="79375"/>
                  </a:lnTo>
                  <a:cubicBezTo>
                    <a:pt x="0" y="35537"/>
                    <a:pt x="35537" y="0"/>
                    <a:pt x="79375" y="0"/>
                  </a:cubicBezTo>
                  <a:close/>
                </a:path>
              </a:pathLst>
            </a:custGeom>
            <a:solidFill>
              <a:srgbClr val="FB7185"/>
            </a:solidFill>
            <a:ln cap="sq">
              <a:noFill/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2032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r>
                <a:rPr lang="en-US" sz="1950" b="1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50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858375" y="2524125"/>
            <a:ext cx="1524000" cy="1143000"/>
            <a:chOff x="0" y="0"/>
            <a:chExt cx="2032000" cy="15240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032000" cy="1524000"/>
            </a:xfrm>
            <a:custGeom>
              <a:avLst/>
              <a:gdLst/>
              <a:ahLst/>
              <a:cxnLst/>
              <a:rect l="l" t="t" r="r" b="b"/>
              <a:pathLst>
                <a:path w="2032000" h="1524000">
                  <a:moveTo>
                    <a:pt x="79375" y="0"/>
                  </a:moveTo>
                  <a:lnTo>
                    <a:pt x="1952625" y="0"/>
                  </a:lnTo>
                  <a:cubicBezTo>
                    <a:pt x="1996463" y="0"/>
                    <a:pt x="2032000" y="35537"/>
                    <a:pt x="2032000" y="79375"/>
                  </a:cubicBezTo>
                  <a:lnTo>
                    <a:pt x="2032000" y="1444625"/>
                  </a:lnTo>
                  <a:cubicBezTo>
                    <a:pt x="2032000" y="1488463"/>
                    <a:pt x="1996463" y="1524000"/>
                    <a:pt x="1952625" y="1524000"/>
                  </a:cubicBezTo>
                  <a:lnTo>
                    <a:pt x="79375" y="1524000"/>
                  </a:lnTo>
                  <a:cubicBezTo>
                    <a:pt x="35537" y="1524000"/>
                    <a:pt x="0" y="1488463"/>
                    <a:pt x="0" y="1444625"/>
                  </a:cubicBezTo>
                  <a:lnTo>
                    <a:pt x="0" y="79375"/>
                  </a:lnTo>
                  <a:cubicBezTo>
                    <a:pt x="0" y="35537"/>
                    <a:pt x="35537" y="0"/>
                    <a:pt x="79375" y="0"/>
                  </a:cubicBezTo>
                  <a:close/>
                </a:path>
              </a:pathLst>
            </a:custGeom>
            <a:solidFill>
              <a:srgbClr val="DBEAFE"/>
            </a:solidFill>
            <a:ln cap="sq">
              <a:noFill/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2032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r>
                <a:rPr lang="en-US" sz="1950" b="1">
                  <a:solidFill>
                    <a:srgbClr val="132033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60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1620500" y="2524125"/>
            <a:ext cx="1524000" cy="1143000"/>
            <a:chOff x="0" y="0"/>
            <a:chExt cx="2032000" cy="15240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032000" cy="1524000"/>
            </a:xfrm>
            <a:custGeom>
              <a:avLst/>
              <a:gdLst/>
              <a:ahLst/>
              <a:cxnLst/>
              <a:rect l="l" t="t" r="r" b="b"/>
              <a:pathLst>
                <a:path w="2032000" h="1524000">
                  <a:moveTo>
                    <a:pt x="79375" y="0"/>
                  </a:moveTo>
                  <a:lnTo>
                    <a:pt x="1952625" y="0"/>
                  </a:lnTo>
                  <a:cubicBezTo>
                    <a:pt x="1996463" y="0"/>
                    <a:pt x="2032000" y="35537"/>
                    <a:pt x="2032000" y="79375"/>
                  </a:cubicBezTo>
                  <a:lnTo>
                    <a:pt x="2032000" y="1444625"/>
                  </a:lnTo>
                  <a:cubicBezTo>
                    <a:pt x="2032000" y="1488463"/>
                    <a:pt x="1996463" y="1524000"/>
                    <a:pt x="1952625" y="1524000"/>
                  </a:cubicBezTo>
                  <a:lnTo>
                    <a:pt x="79375" y="1524000"/>
                  </a:lnTo>
                  <a:cubicBezTo>
                    <a:pt x="35537" y="1524000"/>
                    <a:pt x="0" y="1488463"/>
                    <a:pt x="0" y="1444625"/>
                  </a:cubicBezTo>
                  <a:lnTo>
                    <a:pt x="0" y="79375"/>
                  </a:lnTo>
                  <a:cubicBezTo>
                    <a:pt x="0" y="35537"/>
                    <a:pt x="35537" y="0"/>
                    <a:pt x="79375" y="0"/>
                  </a:cubicBezTo>
                  <a:close/>
                </a:path>
              </a:pathLst>
            </a:custGeom>
            <a:solidFill>
              <a:srgbClr val="DBEAFE"/>
            </a:solidFill>
            <a:ln cap="sq">
              <a:noFill/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2032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r>
                <a:rPr lang="en-US" sz="1950" b="1">
                  <a:solidFill>
                    <a:srgbClr val="132033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70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3382625" y="2524125"/>
            <a:ext cx="1524000" cy="1143000"/>
            <a:chOff x="0" y="0"/>
            <a:chExt cx="2032000" cy="15240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032000" cy="1524000"/>
            </a:xfrm>
            <a:custGeom>
              <a:avLst/>
              <a:gdLst/>
              <a:ahLst/>
              <a:cxnLst/>
              <a:rect l="l" t="t" r="r" b="b"/>
              <a:pathLst>
                <a:path w="2032000" h="1524000">
                  <a:moveTo>
                    <a:pt x="79375" y="0"/>
                  </a:moveTo>
                  <a:lnTo>
                    <a:pt x="1952625" y="0"/>
                  </a:lnTo>
                  <a:cubicBezTo>
                    <a:pt x="1996463" y="0"/>
                    <a:pt x="2032000" y="35537"/>
                    <a:pt x="2032000" y="79375"/>
                  </a:cubicBezTo>
                  <a:lnTo>
                    <a:pt x="2032000" y="1444625"/>
                  </a:lnTo>
                  <a:cubicBezTo>
                    <a:pt x="2032000" y="1488463"/>
                    <a:pt x="1996463" y="1524000"/>
                    <a:pt x="1952625" y="1524000"/>
                  </a:cubicBezTo>
                  <a:lnTo>
                    <a:pt x="79375" y="1524000"/>
                  </a:lnTo>
                  <a:cubicBezTo>
                    <a:pt x="35537" y="1524000"/>
                    <a:pt x="0" y="1488463"/>
                    <a:pt x="0" y="1444625"/>
                  </a:cubicBezTo>
                  <a:lnTo>
                    <a:pt x="0" y="79375"/>
                  </a:lnTo>
                  <a:cubicBezTo>
                    <a:pt x="0" y="35537"/>
                    <a:pt x="35537" y="0"/>
                    <a:pt x="79375" y="0"/>
                  </a:cubicBezTo>
                  <a:close/>
                </a:path>
              </a:pathLst>
            </a:custGeom>
            <a:solidFill>
              <a:srgbClr val="DBEAFE"/>
            </a:solidFill>
            <a:ln cap="sq">
              <a:noFill/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2032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r>
                <a:rPr lang="en-US" sz="1950" b="1">
                  <a:solidFill>
                    <a:srgbClr val="132033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80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5144750" y="2524125"/>
            <a:ext cx="1524000" cy="1143000"/>
            <a:chOff x="0" y="0"/>
            <a:chExt cx="2032000" cy="15240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032000" cy="1524000"/>
            </a:xfrm>
            <a:custGeom>
              <a:avLst/>
              <a:gdLst/>
              <a:ahLst/>
              <a:cxnLst/>
              <a:rect l="l" t="t" r="r" b="b"/>
              <a:pathLst>
                <a:path w="2032000" h="1524000">
                  <a:moveTo>
                    <a:pt x="79375" y="0"/>
                  </a:moveTo>
                  <a:lnTo>
                    <a:pt x="1952625" y="0"/>
                  </a:lnTo>
                  <a:cubicBezTo>
                    <a:pt x="1996463" y="0"/>
                    <a:pt x="2032000" y="35537"/>
                    <a:pt x="2032000" y="79375"/>
                  </a:cubicBezTo>
                  <a:lnTo>
                    <a:pt x="2032000" y="1444625"/>
                  </a:lnTo>
                  <a:cubicBezTo>
                    <a:pt x="2032000" y="1488463"/>
                    <a:pt x="1996463" y="1524000"/>
                    <a:pt x="1952625" y="1524000"/>
                  </a:cubicBezTo>
                  <a:lnTo>
                    <a:pt x="79375" y="1524000"/>
                  </a:lnTo>
                  <a:cubicBezTo>
                    <a:pt x="35537" y="1524000"/>
                    <a:pt x="0" y="1488463"/>
                    <a:pt x="0" y="1444625"/>
                  </a:cubicBezTo>
                  <a:lnTo>
                    <a:pt x="0" y="79375"/>
                  </a:lnTo>
                  <a:cubicBezTo>
                    <a:pt x="0" y="35537"/>
                    <a:pt x="35537" y="0"/>
                    <a:pt x="79375" y="0"/>
                  </a:cubicBezTo>
                  <a:close/>
                </a:path>
              </a:pathLst>
            </a:custGeom>
            <a:solidFill>
              <a:srgbClr val="DBEAFE"/>
            </a:solidFill>
            <a:ln cap="sq">
              <a:noFill/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2032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r>
                <a:rPr lang="en-US" sz="1950" b="1">
                  <a:solidFill>
                    <a:srgbClr val="132033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90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619250" y="3867150"/>
            <a:ext cx="68580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>
                <a:solidFill>
                  <a:srgbClr val="FB7185"/>
                </a:solidFill>
                <a:latin typeface="IBM Plex Mono"/>
                <a:ea typeface="IBM Plex Mono"/>
                <a:cs typeface="IBM Plex Mono"/>
                <a:sym typeface="IBM Plex Mono"/>
              </a:rPr>
              <a:t>eliminated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47750" y="5153025"/>
            <a:ext cx="19050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>
                <a:solidFill>
                  <a:srgbClr val="2563EB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STEP 2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143250" y="5086350"/>
            <a:ext cx="10477500" cy="421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1">
                <a:solidFill>
                  <a:srgbClr val="132033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mid = 6  →  70 = 70  →  FOUND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1047750" y="6048375"/>
            <a:ext cx="1524000" cy="1143000"/>
            <a:chOff x="0" y="0"/>
            <a:chExt cx="2032000" cy="15240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2032000" cy="1524000"/>
            </a:xfrm>
            <a:custGeom>
              <a:avLst/>
              <a:gdLst/>
              <a:ahLst/>
              <a:cxnLst/>
              <a:rect l="l" t="t" r="r" b="b"/>
              <a:pathLst>
                <a:path w="2032000" h="1524000">
                  <a:moveTo>
                    <a:pt x="79375" y="0"/>
                  </a:moveTo>
                  <a:lnTo>
                    <a:pt x="1952625" y="0"/>
                  </a:lnTo>
                  <a:cubicBezTo>
                    <a:pt x="1996463" y="0"/>
                    <a:pt x="2032000" y="35537"/>
                    <a:pt x="2032000" y="79375"/>
                  </a:cubicBezTo>
                  <a:lnTo>
                    <a:pt x="2032000" y="1444625"/>
                  </a:lnTo>
                  <a:cubicBezTo>
                    <a:pt x="2032000" y="1488463"/>
                    <a:pt x="1996463" y="1524000"/>
                    <a:pt x="1952625" y="1524000"/>
                  </a:cubicBezTo>
                  <a:lnTo>
                    <a:pt x="79375" y="1524000"/>
                  </a:lnTo>
                  <a:cubicBezTo>
                    <a:pt x="35537" y="1524000"/>
                    <a:pt x="0" y="1488463"/>
                    <a:pt x="0" y="1444625"/>
                  </a:cubicBezTo>
                  <a:lnTo>
                    <a:pt x="0" y="79375"/>
                  </a:lnTo>
                  <a:cubicBezTo>
                    <a:pt x="0" y="35537"/>
                    <a:pt x="35537" y="0"/>
                    <a:pt x="79375" y="0"/>
                  </a:cubicBezTo>
                  <a:close/>
                </a:path>
              </a:pathLst>
            </a:custGeom>
            <a:solidFill>
              <a:srgbClr val="E2E8F0"/>
            </a:solidFill>
            <a:ln cap="sq">
              <a:noFill/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2032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r>
                <a:rPr lang="en-US" sz="1950" b="1">
                  <a:solidFill>
                    <a:srgbClr val="132033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10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2809875" y="6048375"/>
            <a:ext cx="1524000" cy="1143000"/>
            <a:chOff x="0" y="0"/>
            <a:chExt cx="2032000" cy="15240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2032000" cy="1524000"/>
            </a:xfrm>
            <a:custGeom>
              <a:avLst/>
              <a:gdLst/>
              <a:ahLst/>
              <a:cxnLst/>
              <a:rect l="l" t="t" r="r" b="b"/>
              <a:pathLst>
                <a:path w="2032000" h="1524000">
                  <a:moveTo>
                    <a:pt x="79375" y="0"/>
                  </a:moveTo>
                  <a:lnTo>
                    <a:pt x="1952625" y="0"/>
                  </a:lnTo>
                  <a:cubicBezTo>
                    <a:pt x="1996463" y="0"/>
                    <a:pt x="2032000" y="35537"/>
                    <a:pt x="2032000" y="79375"/>
                  </a:cubicBezTo>
                  <a:lnTo>
                    <a:pt x="2032000" y="1444625"/>
                  </a:lnTo>
                  <a:cubicBezTo>
                    <a:pt x="2032000" y="1488463"/>
                    <a:pt x="1996463" y="1524000"/>
                    <a:pt x="1952625" y="1524000"/>
                  </a:cubicBezTo>
                  <a:lnTo>
                    <a:pt x="79375" y="1524000"/>
                  </a:lnTo>
                  <a:cubicBezTo>
                    <a:pt x="35537" y="1524000"/>
                    <a:pt x="0" y="1488463"/>
                    <a:pt x="0" y="1444625"/>
                  </a:cubicBezTo>
                  <a:lnTo>
                    <a:pt x="0" y="79375"/>
                  </a:lnTo>
                  <a:cubicBezTo>
                    <a:pt x="0" y="35537"/>
                    <a:pt x="35537" y="0"/>
                    <a:pt x="79375" y="0"/>
                  </a:cubicBezTo>
                  <a:close/>
                </a:path>
              </a:pathLst>
            </a:custGeom>
            <a:solidFill>
              <a:srgbClr val="E2E8F0"/>
            </a:solidFill>
            <a:ln cap="sq">
              <a:noFill/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0" y="-38100"/>
              <a:ext cx="2032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r>
                <a:rPr lang="en-US" sz="1950" b="1">
                  <a:solidFill>
                    <a:srgbClr val="132033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20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4572000" y="6048375"/>
            <a:ext cx="1524000" cy="1143000"/>
            <a:chOff x="0" y="0"/>
            <a:chExt cx="2032000" cy="15240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2032000" cy="1524000"/>
            </a:xfrm>
            <a:custGeom>
              <a:avLst/>
              <a:gdLst/>
              <a:ahLst/>
              <a:cxnLst/>
              <a:rect l="l" t="t" r="r" b="b"/>
              <a:pathLst>
                <a:path w="2032000" h="1524000">
                  <a:moveTo>
                    <a:pt x="79375" y="0"/>
                  </a:moveTo>
                  <a:lnTo>
                    <a:pt x="1952625" y="0"/>
                  </a:lnTo>
                  <a:cubicBezTo>
                    <a:pt x="1996463" y="0"/>
                    <a:pt x="2032000" y="35537"/>
                    <a:pt x="2032000" y="79375"/>
                  </a:cubicBezTo>
                  <a:lnTo>
                    <a:pt x="2032000" y="1444625"/>
                  </a:lnTo>
                  <a:cubicBezTo>
                    <a:pt x="2032000" y="1488463"/>
                    <a:pt x="1996463" y="1524000"/>
                    <a:pt x="1952625" y="1524000"/>
                  </a:cubicBezTo>
                  <a:lnTo>
                    <a:pt x="79375" y="1524000"/>
                  </a:lnTo>
                  <a:cubicBezTo>
                    <a:pt x="35537" y="1524000"/>
                    <a:pt x="0" y="1488463"/>
                    <a:pt x="0" y="1444625"/>
                  </a:cubicBezTo>
                  <a:lnTo>
                    <a:pt x="0" y="79375"/>
                  </a:lnTo>
                  <a:cubicBezTo>
                    <a:pt x="0" y="35537"/>
                    <a:pt x="35537" y="0"/>
                    <a:pt x="79375" y="0"/>
                  </a:cubicBezTo>
                  <a:close/>
                </a:path>
              </a:pathLst>
            </a:custGeom>
            <a:solidFill>
              <a:srgbClr val="E2E8F0"/>
            </a:solidFill>
            <a:ln cap="sq">
              <a:noFill/>
              <a:prstDash val="solid"/>
              <a:miter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0" y="-38100"/>
              <a:ext cx="2032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r>
                <a:rPr lang="en-US" sz="1950" b="1">
                  <a:solidFill>
                    <a:srgbClr val="132033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30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334125" y="6048375"/>
            <a:ext cx="1524000" cy="1143000"/>
            <a:chOff x="0" y="0"/>
            <a:chExt cx="2032000" cy="15240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032000" cy="1524000"/>
            </a:xfrm>
            <a:custGeom>
              <a:avLst/>
              <a:gdLst/>
              <a:ahLst/>
              <a:cxnLst/>
              <a:rect l="l" t="t" r="r" b="b"/>
              <a:pathLst>
                <a:path w="2032000" h="1524000">
                  <a:moveTo>
                    <a:pt x="79375" y="0"/>
                  </a:moveTo>
                  <a:lnTo>
                    <a:pt x="1952625" y="0"/>
                  </a:lnTo>
                  <a:cubicBezTo>
                    <a:pt x="1996463" y="0"/>
                    <a:pt x="2032000" y="35537"/>
                    <a:pt x="2032000" y="79375"/>
                  </a:cubicBezTo>
                  <a:lnTo>
                    <a:pt x="2032000" y="1444625"/>
                  </a:lnTo>
                  <a:cubicBezTo>
                    <a:pt x="2032000" y="1488463"/>
                    <a:pt x="1996463" y="1524000"/>
                    <a:pt x="1952625" y="1524000"/>
                  </a:cubicBezTo>
                  <a:lnTo>
                    <a:pt x="79375" y="1524000"/>
                  </a:lnTo>
                  <a:cubicBezTo>
                    <a:pt x="35537" y="1524000"/>
                    <a:pt x="0" y="1488463"/>
                    <a:pt x="0" y="1444625"/>
                  </a:cubicBezTo>
                  <a:lnTo>
                    <a:pt x="0" y="79375"/>
                  </a:lnTo>
                  <a:cubicBezTo>
                    <a:pt x="0" y="35537"/>
                    <a:pt x="35537" y="0"/>
                    <a:pt x="79375" y="0"/>
                  </a:cubicBezTo>
                  <a:close/>
                </a:path>
              </a:pathLst>
            </a:custGeom>
            <a:solidFill>
              <a:srgbClr val="E2E8F0"/>
            </a:solidFill>
            <a:ln cap="sq">
              <a:noFill/>
              <a:prstDash val="solid"/>
              <a:miter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0" y="-38100"/>
              <a:ext cx="2032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r>
                <a:rPr lang="en-US" sz="1950" b="1">
                  <a:solidFill>
                    <a:srgbClr val="132033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40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8096250" y="6048375"/>
            <a:ext cx="1524000" cy="1143000"/>
            <a:chOff x="0" y="0"/>
            <a:chExt cx="2032000" cy="15240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2032000" cy="1524000"/>
            </a:xfrm>
            <a:custGeom>
              <a:avLst/>
              <a:gdLst/>
              <a:ahLst/>
              <a:cxnLst/>
              <a:rect l="l" t="t" r="r" b="b"/>
              <a:pathLst>
                <a:path w="2032000" h="1524000">
                  <a:moveTo>
                    <a:pt x="79375" y="0"/>
                  </a:moveTo>
                  <a:lnTo>
                    <a:pt x="1952625" y="0"/>
                  </a:lnTo>
                  <a:cubicBezTo>
                    <a:pt x="1996463" y="0"/>
                    <a:pt x="2032000" y="35537"/>
                    <a:pt x="2032000" y="79375"/>
                  </a:cubicBezTo>
                  <a:lnTo>
                    <a:pt x="2032000" y="1444625"/>
                  </a:lnTo>
                  <a:cubicBezTo>
                    <a:pt x="2032000" y="1488463"/>
                    <a:pt x="1996463" y="1524000"/>
                    <a:pt x="1952625" y="1524000"/>
                  </a:cubicBezTo>
                  <a:lnTo>
                    <a:pt x="79375" y="1524000"/>
                  </a:lnTo>
                  <a:cubicBezTo>
                    <a:pt x="35537" y="1524000"/>
                    <a:pt x="0" y="1488463"/>
                    <a:pt x="0" y="1444625"/>
                  </a:cubicBezTo>
                  <a:lnTo>
                    <a:pt x="0" y="79375"/>
                  </a:lnTo>
                  <a:cubicBezTo>
                    <a:pt x="0" y="35537"/>
                    <a:pt x="35537" y="0"/>
                    <a:pt x="79375" y="0"/>
                  </a:cubicBezTo>
                  <a:close/>
                </a:path>
              </a:pathLst>
            </a:custGeom>
            <a:solidFill>
              <a:srgbClr val="E2E8F0"/>
            </a:solidFill>
            <a:ln cap="sq">
              <a:noFill/>
              <a:prstDash val="solid"/>
              <a:miter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0" y="-38100"/>
              <a:ext cx="2032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r>
                <a:rPr lang="en-US" sz="1950" b="1">
                  <a:solidFill>
                    <a:srgbClr val="132033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50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9858375" y="6048375"/>
            <a:ext cx="1524000" cy="1143000"/>
            <a:chOff x="0" y="0"/>
            <a:chExt cx="2032000" cy="152400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2032000" cy="1524000"/>
            </a:xfrm>
            <a:custGeom>
              <a:avLst/>
              <a:gdLst/>
              <a:ahLst/>
              <a:cxnLst/>
              <a:rect l="l" t="t" r="r" b="b"/>
              <a:pathLst>
                <a:path w="2032000" h="1524000">
                  <a:moveTo>
                    <a:pt x="79375" y="0"/>
                  </a:moveTo>
                  <a:lnTo>
                    <a:pt x="1952625" y="0"/>
                  </a:lnTo>
                  <a:cubicBezTo>
                    <a:pt x="1996463" y="0"/>
                    <a:pt x="2032000" y="35537"/>
                    <a:pt x="2032000" y="79375"/>
                  </a:cubicBezTo>
                  <a:lnTo>
                    <a:pt x="2032000" y="1444625"/>
                  </a:lnTo>
                  <a:cubicBezTo>
                    <a:pt x="2032000" y="1488463"/>
                    <a:pt x="1996463" y="1524000"/>
                    <a:pt x="1952625" y="1524000"/>
                  </a:cubicBezTo>
                  <a:lnTo>
                    <a:pt x="79375" y="1524000"/>
                  </a:lnTo>
                  <a:cubicBezTo>
                    <a:pt x="35537" y="1524000"/>
                    <a:pt x="0" y="1488463"/>
                    <a:pt x="0" y="1444625"/>
                  </a:cubicBezTo>
                  <a:lnTo>
                    <a:pt x="0" y="79375"/>
                  </a:lnTo>
                  <a:cubicBezTo>
                    <a:pt x="0" y="35537"/>
                    <a:pt x="35537" y="0"/>
                    <a:pt x="79375" y="0"/>
                  </a:cubicBezTo>
                  <a:close/>
                </a:path>
              </a:pathLst>
            </a:custGeom>
            <a:solidFill>
              <a:srgbClr val="DBEAFE"/>
            </a:solidFill>
            <a:ln cap="sq">
              <a:noFill/>
              <a:prstDash val="solid"/>
              <a:miter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0" y="-38100"/>
              <a:ext cx="2032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r>
                <a:rPr lang="en-US" sz="1950" b="1">
                  <a:solidFill>
                    <a:srgbClr val="132033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60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1620500" y="6048375"/>
            <a:ext cx="1524000" cy="1143000"/>
            <a:chOff x="0" y="0"/>
            <a:chExt cx="2032000" cy="152400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2032000" cy="1524000"/>
            </a:xfrm>
            <a:custGeom>
              <a:avLst/>
              <a:gdLst/>
              <a:ahLst/>
              <a:cxnLst/>
              <a:rect l="l" t="t" r="r" b="b"/>
              <a:pathLst>
                <a:path w="2032000" h="1524000">
                  <a:moveTo>
                    <a:pt x="79375" y="0"/>
                  </a:moveTo>
                  <a:lnTo>
                    <a:pt x="1952625" y="0"/>
                  </a:lnTo>
                  <a:cubicBezTo>
                    <a:pt x="1996463" y="0"/>
                    <a:pt x="2032000" y="35537"/>
                    <a:pt x="2032000" y="79375"/>
                  </a:cubicBezTo>
                  <a:lnTo>
                    <a:pt x="2032000" y="1444625"/>
                  </a:lnTo>
                  <a:cubicBezTo>
                    <a:pt x="2032000" y="1488463"/>
                    <a:pt x="1996463" y="1524000"/>
                    <a:pt x="1952625" y="1524000"/>
                  </a:cubicBezTo>
                  <a:lnTo>
                    <a:pt x="79375" y="1524000"/>
                  </a:lnTo>
                  <a:cubicBezTo>
                    <a:pt x="35537" y="1524000"/>
                    <a:pt x="0" y="1488463"/>
                    <a:pt x="0" y="1444625"/>
                  </a:cubicBezTo>
                  <a:lnTo>
                    <a:pt x="0" y="79375"/>
                  </a:lnTo>
                  <a:cubicBezTo>
                    <a:pt x="0" y="35537"/>
                    <a:pt x="35537" y="0"/>
                    <a:pt x="79375" y="0"/>
                  </a:cubicBezTo>
                  <a:close/>
                </a:path>
              </a:pathLst>
            </a:custGeom>
            <a:solidFill>
              <a:srgbClr val="A3E635"/>
            </a:solidFill>
            <a:ln cap="sq">
              <a:noFill/>
              <a:prstDash val="solid"/>
              <a:miter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0" y="-38100"/>
              <a:ext cx="2032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r>
                <a:rPr lang="en-US" sz="1950" b="1">
                  <a:solidFill>
                    <a:srgbClr val="132033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70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3382625" y="6048375"/>
            <a:ext cx="1524000" cy="1143000"/>
            <a:chOff x="0" y="0"/>
            <a:chExt cx="2032000" cy="152400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2032000" cy="1524000"/>
            </a:xfrm>
            <a:custGeom>
              <a:avLst/>
              <a:gdLst/>
              <a:ahLst/>
              <a:cxnLst/>
              <a:rect l="l" t="t" r="r" b="b"/>
              <a:pathLst>
                <a:path w="2032000" h="1524000">
                  <a:moveTo>
                    <a:pt x="79375" y="0"/>
                  </a:moveTo>
                  <a:lnTo>
                    <a:pt x="1952625" y="0"/>
                  </a:lnTo>
                  <a:cubicBezTo>
                    <a:pt x="1996463" y="0"/>
                    <a:pt x="2032000" y="35537"/>
                    <a:pt x="2032000" y="79375"/>
                  </a:cubicBezTo>
                  <a:lnTo>
                    <a:pt x="2032000" y="1444625"/>
                  </a:lnTo>
                  <a:cubicBezTo>
                    <a:pt x="2032000" y="1488463"/>
                    <a:pt x="1996463" y="1524000"/>
                    <a:pt x="1952625" y="1524000"/>
                  </a:cubicBezTo>
                  <a:lnTo>
                    <a:pt x="79375" y="1524000"/>
                  </a:lnTo>
                  <a:cubicBezTo>
                    <a:pt x="35537" y="1524000"/>
                    <a:pt x="0" y="1488463"/>
                    <a:pt x="0" y="1444625"/>
                  </a:cubicBezTo>
                  <a:lnTo>
                    <a:pt x="0" y="79375"/>
                  </a:lnTo>
                  <a:cubicBezTo>
                    <a:pt x="0" y="35537"/>
                    <a:pt x="35537" y="0"/>
                    <a:pt x="79375" y="0"/>
                  </a:cubicBezTo>
                  <a:close/>
                </a:path>
              </a:pathLst>
            </a:custGeom>
            <a:solidFill>
              <a:srgbClr val="DBEAFE"/>
            </a:solidFill>
            <a:ln cap="sq">
              <a:noFill/>
              <a:prstDash val="solid"/>
              <a:miter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0" y="-38100"/>
              <a:ext cx="2032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r>
                <a:rPr lang="en-US" sz="1950" b="1">
                  <a:solidFill>
                    <a:srgbClr val="132033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80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5144750" y="6048375"/>
            <a:ext cx="1524000" cy="1143000"/>
            <a:chOff x="0" y="0"/>
            <a:chExt cx="2032000" cy="152400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2032000" cy="1524000"/>
            </a:xfrm>
            <a:custGeom>
              <a:avLst/>
              <a:gdLst/>
              <a:ahLst/>
              <a:cxnLst/>
              <a:rect l="l" t="t" r="r" b="b"/>
              <a:pathLst>
                <a:path w="2032000" h="1524000">
                  <a:moveTo>
                    <a:pt x="79375" y="0"/>
                  </a:moveTo>
                  <a:lnTo>
                    <a:pt x="1952625" y="0"/>
                  </a:lnTo>
                  <a:cubicBezTo>
                    <a:pt x="1996463" y="0"/>
                    <a:pt x="2032000" y="35537"/>
                    <a:pt x="2032000" y="79375"/>
                  </a:cubicBezTo>
                  <a:lnTo>
                    <a:pt x="2032000" y="1444625"/>
                  </a:lnTo>
                  <a:cubicBezTo>
                    <a:pt x="2032000" y="1488463"/>
                    <a:pt x="1996463" y="1524000"/>
                    <a:pt x="1952625" y="1524000"/>
                  </a:cubicBezTo>
                  <a:lnTo>
                    <a:pt x="79375" y="1524000"/>
                  </a:lnTo>
                  <a:cubicBezTo>
                    <a:pt x="35537" y="1524000"/>
                    <a:pt x="0" y="1488463"/>
                    <a:pt x="0" y="1444625"/>
                  </a:cubicBezTo>
                  <a:lnTo>
                    <a:pt x="0" y="79375"/>
                  </a:lnTo>
                  <a:cubicBezTo>
                    <a:pt x="0" y="35537"/>
                    <a:pt x="35537" y="0"/>
                    <a:pt x="79375" y="0"/>
                  </a:cubicBezTo>
                  <a:close/>
                </a:path>
              </a:pathLst>
            </a:custGeom>
            <a:solidFill>
              <a:srgbClr val="DBEAFE"/>
            </a:solidFill>
            <a:ln cap="sq">
              <a:noFill/>
              <a:prstDash val="solid"/>
              <a:miter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0" y="-38100"/>
              <a:ext cx="2032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r>
                <a:rPr lang="en-US" sz="1950" b="1">
                  <a:solidFill>
                    <a:srgbClr val="132033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90</a:t>
              </a:r>
            </a:p>
          </p:txBody>
        </p:sp>
      </p:grpSp>
      <p:sp>
        <p:nvSpPr>
          <p:cNvPr id="67" name="TextBox 67"/>
          <p:cNvSpPr txBox="1"/>
          <p:nvPr/>
        </p:nvSpPr>
        <p:spPr>
          <a:xfrm>
            <a:off x="11334750" y="8162925"/>
            <a:ext cx="5524500" cy="50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07"/>
              </a:lnSpc>
            </a:pPr>
            <a:r>
              <a:rPr lang="en-US" sz="3150" b="1">
                <a:solidFill>
                  <a:srgbClr val="132033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Found at index 6</a:t>
            </a:r>
          </a:p>
        </p:txBody>
      </p:sp>
      <p:grpSp>
        <p:nvGrpSpPr>
          <p:cNvPr id="68" name="Group 68"/>
          <p:cNvGrpSpPr/>
          <p:nvPr/>
        </p:nvGrpSpPr>
        <p:grpSpPr>
          <a:xfrm>
            <a:off x="857250" y="9715500"/>
            <a:ext cx="16573500" cy="203835"/>
            <a:chOff x="0" y="0"/>
            <a:chExt cx="22098000" cy="271780"/>
          </a:xfrm>
        </p:grpSpPr>
        <p:sp>
          <p:nvSpPr>
            <p:cNvPr id="69" name="TextBox 69"/>
            <p:cNvSpPr txBox="1"/>
            <p:nvPr/>
          </p:nvSpPr>
          <p:spPr>
            <a:xfrm>
              <a:off x="0" y="-28575"/>
              <a:ext cx="8890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>
                  <a:solidFill>
                    <a:srgbClr val="607086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BINARY SEARCH  /  SORTED ARRAYS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20955000" y="-28575"/>
              <a:ext cx="1143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889"/>
                </a:lnSpc>
              </a:pPr>
              <a:r>
                <a:rPr lang="en-US" sz="1350">
                  <a:solidFill>
                    <a:srgbClr val="2563EB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7250" y="457200"/>
            <a:ext cx="16573500" cy="762000"/>
            <a:chOff x="0" y="0"/>
            <a:chExt cx="22098000" cy="1016000"/>
          </a:xfrm>
        </p:grpSpPr>
        <p:sp>
          <p:nvSpPr>
            <p:cNvPr id="3" name="TextBox 3"/>
            <p:cNvSpPr txBox="1"/>
            <p:nvPr/>
          </p:nvSpPr>
          <p:spPr>
            <a:xfrm>
              <a:off x="0" y="63500"/>
              <a:ext cx="1524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06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778000" y="-19050"/>
              <a:ext cx="19050000" cy="8039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095"/>
                </a:lnSpc>
              </a:pPr>
              <a:r>
                <a:rPr lang="en-US" sz="3900" b="1">
                  <a:solidFill>
                    <a:srgbClr val="FFFF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Binary Search in C</a:t>
              </a:r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990600"/>
              <a:ext cx="22098000" cy="25400"/>
              <a:chOff x="0" y="0"/>
              <a:chExt cx="22098000" cy="254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20980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2098000" h="25400">
                    <a:moveTo>
                      <a:pt x="0" y="0"/>
                    </a:moveTo>
                    <a:lnTo>
                      <a:pt x="22098000" y="0"/>
                    </a:lnTo>
                    <a:lnTo>
                      <a:pt x="220980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29405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22098000" cy="63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grpSp>
        <p:nvGrpSpPr>
          <p:cNvPr id="8" name="Group 8"/>
          <p:cNvGrpSpPr/>
          <p:nvPr/>
        </p:nvGrpSpPr>
        <p:grpSpPr>
          <a:xfrm>
            <a:off x="857250" y="1524000"/>
            <a:ext cx="16573500" cy="7667625"/>
            <a:chOff x="0" y="0"/>
            <a:chExt cx="22098000" cy="1022350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22098000" cy="10223500"/>
              <a:chOff x="0" y="0"/>
              <a:chExt cx="22098000" cy="102235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2098000" cy="10223500"/>
              </a:xfrm>
              <a:custGeom>
                <a:avLst/>
                <a:gdLst/>
                <a:ahLst/>
                <a:cxnLst/>
                <a:rect l="l" t="t" r="r" b="b"/>
                <a:pathLst>
                  <a:path w="22098000" h="10223500">
                    <a:moveTo>
                      <a:pt x="0" y="0"/>
                    </a:moveTo>
                    <a:lnTo>
                      <a:pt x="22098000" y="0"/>
                    </a:lnTo>
                    <a:lnTo>
                      <a:pt x="22098000" y="10223500"/>
                    </a:lnTo>
                    <a:lnTo>
                      <a:pt x="0" y="10223500"/>
                    </a:lnTo>
                    <a:close/>
                  </a:path>
                </a:pathLst>
              </a:custGeom>
              <a:solidFill>
                <a:srgbClr val="111D2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22098000" cy="10261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571500" y="225425"/>
              <a:ext cx="22860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FB7185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●  ●  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71500" y="787400"/>
              <a:ext cx="19050000" cy="90233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92"/>
                </a:lnSpc>
              </a:pPr>
              <a:r>
                <a:rPr lang="en-US" sz="165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#include &lt;stdio.h&gt;</a:t>
              </a:r>
            </a:p>
            <a:p>
              <a:pPr algn="l">
                <a:lnSpc>
                  <a:spcPts val="2392"/>
                </a:lnSpc>
              </a:pPr>
              <a:endParaRPr lang="en-US" sz="1650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  <a:p>
              <a:pPr algn="l">
                <a:lnSpc>
                  <a:spcPts val="2392"/>
                </a:lnSpc>
              </a:pPr>
              <a:r>
                <a:rPr lang="en-US" sz="165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int binarySearch(int a[], int n, int target) {</a:t>
              </a:r>
            </a:p>
            <a:p>
              <a:pPr algn="l">
                <a:lnSpc>
                  <a:spcPts val="2392"/>
                </a:lnSpc>
              </a:pPr>
              <a:r>
                <a:rPr lang="en-US" sz="165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int low = 0, high = n - 1;</a:t>
              </a:r>
            </a:p>
            <a:p>
              <a:pPr algn="l">
                <a:lnSpc>
                  <a:spcPts val="2392"/>
                </a:lnSpc>
              </a:pPr>
              <a:r>
                <a:rPr lang="en-US" sz="165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while (low &lt;= high) {</a:t>
              </a:r>
            </a:p>
            <a:p>
              <a:pPr algn="l">
                <a:lnSpc>
                  <a:spcPts val="2392"/>
                </a:lnSpc>
              </a:pPr>
              <a:r>
                <a:rPr lang="en-US" sz="165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int mid = low + (high - low) / 2;</a:t>
              </a:r>
            </a:p>
            <a:p>
              <a:pPr algn="l">
                <a:lnSpc>
                  <a:spcPts val="2392"/>
                </a:lnSpc>
              </a:pPr>
              <a:r>
                <a:rPr lang="en-US" sz="165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if (a[mid] == target) return mid;</a:t>
              </a:r>
            </a:p>
            <a:p>
              <a:pPr algn="l">
                <a:lnSpc>
                  <a:spcPts val="2392"/>
                </a:lnSpc>
              </a:pPr>
              <a:r>
                <a:rPr lang="en-US" sz="165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if (a[mid] &lt; target) low = mid + 1;</a:t>
              </a:r>
            </a:p>
            <a:p>
              <a:pPr algn="l">
                <a:lnSpc>
                  <a:spcPts val="2392"/>
                </a:lnSpc>
              </a:pPr>
              <a:r>
                <a:rPr lang="en-US" sz="165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else high = mid - 1;</a:t>
              </a:r>
            </a:p>
            <a:p>
              <a:pPr algn="l">
                <a:lnSpc>
                  <a:spcPts val="2392"/>
                </a:lnSpc>
              </a:pPr>
              <a:r>
                <a:rPr lang="en-US" sz="165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}</a:t>
              </a:r>
            </a:p>
            <a:p>
              <a:pPr algn="l">
                <a:lnSpc>
                  <a:spcPts val="2392"/>
                </a:lnSpc>
              </a:pPr>
              <a:r>
                <a:rPr lang="en-US" sz="165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return -1;</a:t>
              </a:r>
            </a:p>
            <a:p>
              <a:pPr algn="l">
                <a:lnSpc>
                  <a:spcPts val="2392"/>
                </a:lnSpc>
              </a:pPr>
              <a:r>
                <a:rPr lang="en-US" sz="165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}</a:t>
              </a:r>
            </a:p>
            <a:p>
              <a:pPr algn="l">
                <a:lnSpc>
                  <a:spcPts val="2392"/>
                </a:lnSpc>
              </a:pPr>
              <a:endParaRPr lang="en-US" sz="1650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  <a:p>
              <a:pPr algn="l">
                <a:lnSpc>
                  <a:spcPts val="2392"/>
                </a:lnSpc>
              </a:pPr>
              <a:r>
                <a:rPr lang="en-US" sz="165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int main(void) {</a:t>
              </a:r>
            </a:p>
            <a:p>
              <a:pPr algn="l">
                <a:lnSpc>
                  <a:spcPts val="2392"/>
                </a:lnSpc>
              </a:pPr>
              <a:r>
                <a:rPr lang="en-US" sz="165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int n, target, a[100];</a:t>
              </a:r>
            </a:p>
            <a:p>
              <a:pPr algn="l">
                <a:lnSpc>
                  <a:spcPts val="2392"/>
                </a:lnSpc>
              </a:pPr>
              <a:r>
                <a:rPr lang="en-US" sz="165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scanf("%d", &amp;n);</a:t>
              </a:r>
            </a:p>
            <a:p>
              <a:pPr algn="l">
                <a:lnSpc>
                  <a:spcPts val="2392"/>
                </a:lnSpc>
              </a:pPr>
              <a:r>
                <a:rPr lang="en-US" sz="165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for (int i=0; i&lt;n; i++) scanf("%d", &amp;a[i]);</a:t>
              </a:r>
            </a:p>
            <a:p>
              <a:pPr algn="l">
                <a:lnSpc>
                  <a:spcPts val="2392"/>
                </a:lnSpc>
              </a:pPr>
              <a:r>
                <a:rPr lang="en-US" sz="165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scanf("%d", &amp;target);</a:t>
              </a:r>
            </a:p>
            <a:p>
              <a:pPr algn="l">
                <a:lnSpc>
                  <a:spcPts val="2392"/>
                </a:lnSpc>
              </a:pPr>
              <a:r>
                <a:rPr lang="en-US" sz="165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int index = binarySearch(a, n, target);</a:t>
              </a:r>
            </a:p>
            <a:p>
              <a:pPr algn="l">
                <a:lnSpc>
                  <a:spcPts val="2392"/>
                </a:lnSpc>
              </a:pPr>
              <a:r>
                <a:rPr lang="en-US" sz="165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if (index &gt;= 0) printf("Element found at index %d\n", index);</a:t>
              </a:r>
            </a:p>
            <a:p>
              <a:pPr algn="l">
                <a:lnSpc>
                  <a:spcPts val="2392"/>
                </a:lnSpc>
              </a:pPr>
              <a:r>
                <a:rPr lang="en-US" sz="165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else printf("Element not found\n");</a:t>
              </a:r>
            </a:p>
            <a:p>
              <a:pPr algn="l">
                <a:lnSpc>
                  <a:spcPts val="2392"/>
                </a:lnSpc>
              </a:pPr>
              <a:r>
                <a:rPr lang="en-US" sz="165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return 0;</a:t>
              </a:r>
            </a:p>
            <a:p>
              <a:pPr algn="l">
                <a:lnSpc>
                  <a:spcPts val="2392"/>
                </a:lnSpc>
              </a:pPr>
              <a:r>
                <a:rPr lang="en-US" sz="165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}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367000" y="225425"/>
              <a:ext cx="59690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100"/>
                </a:lnSpc>
              </a:pPr>
              <a:r>
                <a:rPr lang="en-US" sz="1500">
                  <a:solidFill>
                    <a:srgbClr val="22D3EE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Iterative · returns index or −1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57250" y="9715500"/>
            <a:ext cx="16573500" cy="203835"/>
            <a:chOff x="0" y="0"/>
            <a:chExt cx="22098000" cy="271780"/>
          </a:xfrm>
        </p:grpSpPr>
        <p:sp>
          <p:nvSpPr>
            <p:cNvPr id="16" name="TextBox 16"/>
            <p:cNvSpPr txBox="1"/>
            <p:nvPr/>
          </p:nvSpPr>
          <p:spPr>
            <a:xfrm>
              <a:off x="0" y="-28575"/>
              <a:ext cx="8890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>
                  <a:solidFill>
                    <a:srgbClr val="8DA2B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BINARY SEARCH  /  SORTED ARRAYS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955000" y="-28575"/>
              <a:ext cx="1143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889"/>
                </a:lnSpc>
              </a:pPr>
              <a:r>
                <a:rPr lang="en-US" sz="1350">
                  <a:solidFill>
                    <a:srgbClr val="22D3EE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7250" y="457200"/>
            <a:ext cx="16573500" cy="762000"/>
            <a:chOff x="0" y="0"/>
            <a:chExt cx="22098000" cy="1016000"/>
          </a:xfrm>
        </p:grpSpPr>
        <p:sp>
          <p:nvSpPr>
            <p:cNvPr id="3" name="TextBox 3"/>
            <p:cNvSpPr txBox="1"/>
            <p:nvPr/>
          </p:nvSpPr>
          <p:spPr>
            <a:xfrm>
              <a:off x="0" y="63500"/>
              <a:ext cx="1524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>
                  <a:solidFill>
                    <a:srgbClr val="2563EB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07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778000" y="-19050"/>
              <a:ext cx="19050000" cy="8039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095"/>
                </a:lnSpc>
              </a:pPr>
              <a:r>
                <a:rPr lang="en-US" sz="3900" b="1">
                  <a:solidFill>
                    <a:srgbClr val="132033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Sample Terminal Execution</a:t>
              </a:r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990600"/>
              <a:ext cx="22098000" cy="25400"/>
              <a:chOff x="0" y="0"/>
              <a:chExt cx="22098000" cy="254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20980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2098000" h="25400">
                    <a:moveTo>
                      <a:pt x="0" y="0"/>
                    </a:moveTo>
                    <a:lnTo>
                      <a:pt x="22098000" y="0"/>
                    </a:lnTo>
                    <a:lnTo>
                      <a:pt x="220980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CBD5E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22098000" cy="63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grpSp>
        <p:nvGrpSpPr>
          <p:cNvPr id="8" name="Group 8"/>
          <p:cNvGrpSpPr/>
          <p:nvPr/>
        </p:nvGrpSpPr>
        <p:grpSpPr>
          <a:xfrm>
            <a:off x="1095375" y="1952625"/>
            <a:ext cx="15382875" cy="6143625"/>
            <a:chOff x="0" y="0"/>
            <a:chExt cx="20510500" cy="8191500"/>
          </a:xfrm>
        </p:grpSpPr>
        <p:grpSp>
          <p:nvGrpSpPr>
            <p:cNvPr id="9" name="Group 9"/>
            <p:cNvGrpSpPr/>
            <p:nvPr/>
          </p:nvGrpSpPr>
          <p:grpSpPr>
            <a:xfrm>
              <a:off x="190500" y="190500"/>
              <a:ext cx="20320000" cy="8001000"/>
              <a:chOff x="0" y="0"/>
              <a:chExt cx="20320000" cy="80010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0320000" cy="8001000"/>
              </a:xfrm>
              <a:custGeom>
                <a:avLst/>
                <a:gdLst/>
                <a:ahLst/>
                <a:cxnLst/>
                <a:rect l="l" t="t" r="r" b="b"/>
                <a:pathLst>
                  <a:path w="20320000" h="8001000">
                    <a:moveTo>
                      <a:pt x="0" y="0"/>
                    </a:moveTo>
                    <a:lnTo>
                      <a:pt x="20320000" y="0"/>
                    </a:lnTo>
                    <a:lnTo>
                      <a:pt x="20320000" y="8001000"/>
                    </a:lnTo>
                    <a:lnTo>
                      <a:pt x="0" y="8001000"/>
                    </a:lnTo>
                    <a:close/>
                  </a:path>
                </a:pathLst>
              </a:custGeom>
              <a:solidFill>
                <a:srgbClr val="132033">
                  <a:alpha val="14902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20320000" cy="8039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0" y="0"/>
              <a:ext cx="20320000" cy="8001000"/>
              <a:chOff x="0" y="0"/>
              <a:chExt cx="20320000" cy="80010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0320000" cy="8001000"/>
              </a:xfrm>
              <a:custGeom>
                <a:avLst/>
                <a:gdLst/>
                <a:ahLst/>
                <a:cxnLst/>
                <a:rect l="l" t="t" r="r" b="b"/>
                <a:pathLst>
                  <a:path w="20320000" h="8001000">
                    <a:moveTo>
                      <a:pt x="0" y="0"/>
                    </a:moveTo>
                    <a:lnTo>
                      <a:pt x="20320000" y="0"/>
                    </a:lnTo>
                    <a:lnTo>
                      <a:pt x="20320000" y="8001000"/>
                    </a:lnTo>
                    <a:lnTo>
                      <a:pt x="0" y="8001000"/>
                    </a:lnTo>
                    <a:close/>
                  </a:path>
                </a:pathLst>
              </a:custGeom>
              <a:solidFill>
                <a:srgbClr val="08111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20320000" cy="8039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0" y="0"/>
              <a:ext cx="20320000" cy="685800"/>
              <a:chOff x="0" y="0"/>
              <a:chExt cx="20320000" cy="685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20320000" cy="685800"/>
              </a:xfrm>
              <a:custGeom>
                <a:avLst/>
                <a:gdLst/>
                <a:ahLst/>
                <a:cxnLst/>
                <a:rect l="l" t="t" r="r" b="b"/>
                <a:pathLst>
                  <a:path w="20320000" h="685800">
                    <a:moveTo>
                      <a:pt x="0" y="0"/>
                    </a:moveTo>
                    <a:lnTo>
                      <a:pt x="20320000" y="0"/>
                    </a:lnTo>
                    <a:lnTo>
                      <a:pt x="20320000" y="685800"/>
                    </a:lnTo>
                    <a:lnTo>
                      <a:pt x="0" y="685800"/>
                    </a:lnTo>
                    <a:close/>
                  </a:path>
                </a:pathLst>
              </a:custGeom>
              <a:solidFill>
                <a:srgbClr val="1726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20320000" cy="723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889000" y="641350"/>
              <a:ext cx="16256000" cy="40449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79"/>
                </a:lnSpc>
              </a:pPr>
              <a:r>
                <a:rPr lang="en-US" sz="24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$ ./binary_search</a:t>
              </a:r>
            </a:p>
            <a:p>
              <a:pPr algn="l">
                <a:lnSpc>
                  <a:spcPts val="3479"/>
                </a:lnSpc>
              </a:pPr>
              <a:r>
                <a:rPr lang="en-US" sz="24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Enter array size: 9</a:t>
              </a:r>
            </a:p>
            <a:p>
              <a:pPr algn="l">
                <a:lnSpc>
                  <a:spcPts val="3479"/>
                </a:lnSpc>
              </a:pPr>
              <a:r>
                <a:rPr lang="en-US" sz="24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Enter 9 sorted elements:</a:t>
              </a:r>
            </a:p>
            <a:p>
              <a:pPr algn="l">
                <a:lnSpc>
                  <a:spcPts val="3479"/>
                </a:lnSpc>
              </a:pPr>
              <a:r>
                <a:rPr lang="en-US" sz="24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10 20 30 40 50 60 70 80 90</a:t>
              </a:r>
            </a:p>
            <a:p>
              <a:pPr algn="l">
                <a:lnSpc>
                  <a:spcPts val="3479"/>
                </a:lnSpc>
              </a:pPr>
              <a:r>
                <a:rPr lang="en-US" sz="24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Enter element to search: 70</a:t>
              </a:r>
            </a:p>
            <a:p>
              <a:pPr algn="l">
                <a:lnSpc>
                  <a:spcPts val="3479"/>
                </a:lnSpc>
              </a:pPr>
              <a:endParaRPr lang="en-US" sz="2400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  <a:p>
              <a:pPr algn="l">
                <a:lnSpc>
                  <a:spcPts val="3479"/>
                </a:lnSpc>
              </a:pPr>
              <a:r>
                <a:rPr lang="en-US" sz="24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Element found at index 6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0382250" y="8039100"/>
            <a:ext cx="5905500" cy="435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92"/>
              </a:lnSpc>
            </a:pPr>
            <a:r>
              <a:rPr lang="en-US" sz="2850" b="1">
                <a:solidFill>
                  <a:srgbClr val="132033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One run. Two comparisons.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5811500" y="2971800"/>
            <a:ext cx="104775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2563EB"/>
                </a:solidFill>
                <a:latin typeface="IBM Plex Mono"/>
                <a:ea typeface="IBM Plex Mono"/>
                <a:cs typeface="IBM Plex Mono"/>
                <a:sym typeface="IBM Plex Mono"/>
              </a:rPr>
              <a:t>input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857250" y="9715500"/>
            <a:ext cx="16573500" cy="203835"/>
            <a:chOff x="0" y="0"/>
            <a:chExt cx="22098000" cy="271780"/>
          </a:xfrm>
        </p:grpSpPr>
        <p:sp>
          <p:nvSpPr>
            <p:cNvPr id="22" name="TextBox 22"/>
            <p:cNvSpPr txBox="1"/>
            <p:nvPr/>
          </p:nvSpPr>
          <p:spPr>
            <a:xfrm>
              <a:off x="0" y="-28575"/>
              <a:ext cx="8890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>
                  <a:solidFill>
                    <a:srgbClr val="607086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BINARY SEARCH  /  SORTED ARRAYS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0955000" y="-28575"/>
              <a:ext cx="1143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889"/>
                </a:lnSpc>
              </a:pPr>
              <a:r>
                <a:rPr lang="en-US" sz="1350">
                  <a:solidFill>
                    <a:srgbClr val="2563EB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7250" y="457200"/>
            <a:ext cx="16573500" cy="762000"/>
            <a:chOff x="0" y="0"/>
            <a:chExt cx="22098000" cy="1016000"/>
          </a:xfrm>
        </p:grpSpPr>
        <p:sp>
          <p:nvSpPr>
            <p:cNvPr id="3" name="TextBox 3"/>
            <p:cNvSpPr txBox="1"/>
            <p:nvPr/>
          </p:nvSpPr>
          <p:spPr>
            <a:xfrm>
              <a:off x="0" y="63500"/>
              <a:ext cx="1524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>
                  <a:solidFill>
                    <a:srgbClr val="2563EB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08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778000" y="-19050"/>
              <a:ext cx="19050000" cy="8039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095"/>
                </a:lnSpc>
              </a:pPr>
              <a:r>
                <a:rPr lang="en-US" sz="3900" b="1">
                  <a:solidFill>
                    <a:srgbClr val="132033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Analogy · A Dictionary</a:t>
              </a:r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990600"/>
              <a:ext cx="22098000" cy="25400"/>
              <a:chOff x="0" y="0"/>
              <a:chExt cx="22098000" cy="254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20980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2098000" h="25400">
                    <a:moveTo>
                      <a:pt x="0" y="0"/>
                    </a:moveTo>
                    <a:lnTo>
                      <a:pt x="22098000" y="0"/>
                    </a:lnTo>
                    <a:lnTo>
                      <a:pt x="220980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CBD5E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22098000" cy="63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sp>
        <p:nvSpPr>
          <p:cNvPr id="8" name="Freeform 8"/>
          <p:cNvSpPr/>
          <p:nvPr/>
        </p:nvSpPr>
        <p:spPr>
          <a:xfrm>
            <a:off x="857250" y="1571625"/>
            <a:ext cx="7429500" cy="7429500"/>
          </a:xfrm>
          <a:custGeom>
            <a:avLst/>
            <a:gdLst/>
            <a:ahLst/>
            <a:cxnLst/>
            <a:rect l="l" t="t" r="r" b="b"/>
            <a:pathLst>
              <a:path w="7429500" h="7429500">
                <a:moveTo>
                  <a:pt x="0" y="0"/>
                </a:moveTo>
                <a:lnTo>
                  <a:pt x="7429500" y="0"/>
                </a:lnTo>
                <a:lnTo>
                  <a:pt x="7429500" y="7429500"/>
                </a:lnTo>
                <a:lnTo>
                  <a:pt x="0" y="7429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TextBox 9"/>
          <p:cNvSpPr txBox="1"/>
          <p:nvPr/>
        </p:nvSpPr>
        <p:spPr>
          <a:xfrm>
            <a:off x="9620250" y="1952625"/>
            <a:ext cx="76200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563EB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572750" y="1933575"/>
            <a:ext cx="5715000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000" b="1">
                <a:solidFill>
                  <a:srgbClr val="132033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Open near the middle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572750" y="2495550"/>
            <a:ext cx="5715000" cy="324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132033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middle page acts like mid.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620250" y="3810000"/>
            <a:ext cx="76200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563EB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572750" y="3790950"/>
            <a:ext cx="5715000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000" b="1">
                <a:solidFill>
                  <a:srgbClr val="132033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Compare the word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572750" y="4352925"/>
            <a:ext cx="5905500" cy="324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132033"/>
                </a:solidFill>
                <a:latin typeface="IBM Plex Sans"/>
                <a:ea typeface="IBM Plex Sans"/>
                <a:cs typeface="IBM Plex Sans"/>
                <a:sym typeface="IBM Plex Sans"/>
              </a:rPr>
              <a:t>Alphabetical order tells you before or after.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620250" y="5857875"/>
            <a:ext cx="76200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563EB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572750" y="5838825"/>
            <a:ext cx="5715000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000" b="1">
                <a:solidFill>
                  <a:srgbClr val="132033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Discard half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572750" y="6400800"/>
            <a:ext cx="5715000" cy="324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132033"/>
                </a:solidFill>
                <a:latin typeface="IBM Plex Sans"/>
                <a:ea typeface="IBM Plex Sans"/>
                <a:cs typeface="IBM Plex Sans"/>
                <a:sym typeface="IBM Plex Sans"/>
              </a:rPr>
              <a:t>Repeat with new low and high bounds.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857250" y="9715500"/>
            <a:ext cx="16573500" cy="203835"/>
            <a:chOff x="0" y="0"/>
            <a:chExt cx="22098000" cy="271780"/>
          </a:xfrm>
        </p:grpSpPr>
        <p:sp>
          <p:nvSpPr>
            <p:cNvPr id="19" name="TextBox 19"/>
            <p:cNvSpPr txBox="1"/>
            <p:nvPr/>
          </p:nvSpPr>
          <p:spPr>
            <a:xfrm>
              <a:off x="0" y="-28575"/>
              <a:ext cx="8890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>
                  <a:solidFill>
                    <a:srgbClr val="607086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BINARY SEARCH  /  SORTED ARRAYS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0955000" y="-28575"/>
              <a:ext cx="1143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889"/>
                </a:lnSpc>
              </a:pPr>
              <a:r>
                <a:rPr lang="en-US" sz="1350">
                  <a:solidFill>
                    <a:srgbClr val="2563EB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7250" y="457200"/>
            <a:ext cx="16573500" cy="762000"/>
            <a:chOff x="0" y="0"/>
            <a:chExt cx="22098000" cy="1016000"/>
          </a:xfrm>
        </p:grpSpPr>
        <p:sp>
          <p:nvSpPr>
            <p:cNvPr id="3" name="TextBox 3"/>
            <p:cNvSpPr txBox="1"/>
            <p:nvPr/>
          </p:nvSpPr>
          <p:spPr>
            <a:xfrm>
              <a:off x="0" y="63500"/>
              <a:ext cx="1524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09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778000" y="-19050"/>
              <a:ext cx="19050000" cy="8039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095"/>
                </a:lnSpc>
              </a:pPr>
              <a:r>
                <a:rPr lang="en-US" sz="3900" b="1">
                  <a:solidFill>
                    <a:srgbClr val="FFFF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Time Complexity</a:t>
              </a:r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990600"/>
              <a:ext cx="22098000" cy="25400"/>
              <a:chOff x="0" y="0"/>
              <a:chExt cx="22098000" cy="254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20980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2098000" h="25400">
                    <a:moveTo>
                      <a:pt x="0" y="0"/>
                    </a:moveTo>
                    <a:lnTo>
                      <a:pt x="22098000" y="0"/>
                    </a:lnTo>
                    <a:lnTo>
                      <a:pt x="220980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29405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22098000" cy="63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88" y="1107911"/>
            <a:ext cx="11928574" cy="8166428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2287250" y="2352675"/>
            <a:ext cx="1714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22D3E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BEST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287250" y="2724150"/>
            <a:ext cx="4286250" cy="1040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0"/>
              </a:lnSpc>
            </a:pPr>
            <a:r>
              <a:rPr lang="en-US" sz="6600" b="1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O(1)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287250" y="3743325"/>
            <a:ext cx="4286250" cy="297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Target is the first mid.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287250" y="5162550"/>
            <a:ext cx="3810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22D3E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AVERAGE + WORST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287250" y="5534025"/>
            <a:ext cx="4762500" cy="877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27"/>
              </a:lnSpc>
            </a:pPr>
            <a:r>
              <a:rPr lang="en-US" sz="5550" b="1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O(log n)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287250" y="6553200"/>
            <a:ext cx="4572000" cy="611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Every step halves the remaining candidates.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857250" y="9715500"/>
            <a:ext cx="16573500" cy="203835"/>
            <a:chOff x="0" y="0"/>
            <a:chExt cx="22098000" cy="271780"/>
          </a:xfrm>
        </p:grpSpPr>
        <p:sp>
          <p:nvSpPr>
            <p:cNvPr id="16" name="TextBox 16"/>
            <p:cNvSpPr txBox="1"/>
            <p:nvPr/>
          </p:nvSpPr>
          <p:spPr>
            <a:xfrm>
              <a:off x="0" y="-28575"/>
              <a:ext cx="8890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>
                  <a:solidFill>
                    <a:srgbClr val="8DA2B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BINARY SEARCH  /  SORTED ARRAYS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955000" y="-28575"/>
              <a:ext cx="1143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889"/>
                </a:lnSpc>
              </a:pPr>
              <a:r>
                <a:rPr lang="en-US" sz="1350">
                  <a:solidFill>
                    <a:srgbClr val="22D3EE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09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7250" y="457200"/>
            <a:ext cx="16573500" cy="762000"/>
            <a:chOff x="0" y="0"/>
            <a:chExt cx="22098000" cy="1016000"/>
          </a:xfrm>
        </p:grpSpPr>
        <p:sp>
          <p:nvSpPr>
            <p:cNvPr id="3" name="TextBox 3"/>
            <p:cNvSpPr txBox="1"/>
            <p:nvPr/>
          </p:nvSpPr>
          <p:spPr>
            <a:xfrm>
              <a:off x="0" y="63500"/>
              <a:ext cx="1524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>
                  <a:solidFill>
                    <a:srgbClr val="2563EB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10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778000" y="-19050"/>
              <a:ext cx="19050000" cy="8039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095"/>
                </a:lnSpc>
              </a:pPr>
              <a:r>
                <a:rPr lang="en-US" sz="3900" b="1">
                  <a:solidFill>
                    <a:srgbClr val="132033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Space Complexity</a:t>
              </a:r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990600"/>
              <a:ext cx="22098000" cy="25400"/>
              <a:chOff x="0" y="0"/>
              <a:chExt cx="22098000" cy="254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20980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2098000" h="25400">
                    <a:moveTo>
                      <a:pt x="0" y="0"/>
                    </a:moveTo>
                    <a:lnTo>
                      <a:pt x="22098000" y="0"/>
                    </a:lnTo>
                    <a:lnTo>
                      <a:pt x="220980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CBD5E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22098000" cy="63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sp>
        <p:nvSpPr>
          <p:cNvPr id="8" name="TextBox 8"/>
          <p:cNvSpPr txBox="1"/>
          <p:nvPr/>
        </p:nvSpPr>
        <p:spPr>
          <a:xfrm>
            <a:off x="1143000" y="1914525"/>
            <a:ext cx="619125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>
                <a:solidFill>
                  <a:srgbClr val="2563EB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ITERATIVE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43000" y="2381250"/>
            <a:ext cx="6191250" cy="1300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62"/>
              </a:lnSpc>
            </a:pPr>
            <a:r>
              <a:rPr lang="en-US" sz="8250" b="1">
                <a:solidFill>
                  <a:srgbClr val="132033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O(1)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43000" y="3771900"/>
            <a:ext cx="6191250" cy="739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132033"/>
                </a:solidFill>
                <a:latin typeface="IBM Plex Sans"/>
                <a:ea typeface="IBM Plex Sans"/>
                <a:cs typeface="IBM Plex Sans"/>
                <a:sym typeface="IBM Plex Sans"/>
              </a:rPr>
              <a:t>Only low, high, and mid are stored. Memory stays constant as n grows.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0" y="1914525"/>
            <a:ext cx="619125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>
                <a:solidFill>
                  <a:srgbClr val="FB7185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RECURSIVE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0" y="2390775"/>
            <a:ext cx="6191250" cy="1181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75"/>
              </a:lnSpc>
            </a:pPr>
            <a:r>
              <a:rPr lang="en-US" sz="7500" b="1">
                <a:solidFill>
                  <a:srgbClr val="132033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O(log n)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0" y="3771900"/>
            <a:ext cx="6191250" cy="739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132033"/>
                </a:solidFill>
                <a:latin typeface="IBM Plex Sans"/>
                <a:ea typeface="IBM Plex Sans"/>
                <a:cs typeface="IBM Plex Sans"/>
                <a:sym typeface="IBM Plex Sans"/>
              </a:rPr>
              <a:t>Each recursive call adds a stack frame until the search range reaches one element.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001125" y="1809750"/>
            <a:ext cx="19050" cy="6572250"/>
            <a:chOff x="0" y="0"/>
            <a:chExt cx="25400" cy="8763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5400" cy="8763000"/>
            </a:xfrm>
            <a:custGeom>
              <a:avLst/>
              <a:gdLst/>
              <a:ahLst/>
              <a:cxnLst/>
              <a:rect l="l" t="t" r="r" b="b"/>
              <a:pathLst>
                <a:path w="25400" h="8763000">
                  <a:moveTo>
                    <a:pt x="0" y="0"/>
                  </a:moveTo>
                  <a:lnTo>
                    <a:pt x="25400" y="0"/>
                  </a:lnTo>
                  <a:lnTo>
                    <a:pt x="25400" y="8763000"/>
                  </a:lnTo>
                  <a:lnTo>
                    <a:pt x="0" y="8763000"/>
                  </a:lnTo>
                  <a:close/>
                </a:path>
              </a:pathLst>
            </a:custGeom>
            <a:solidFill>
              <a:srgbClr val="CBD5E1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25400" cy="880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239500" y="7172325"/>
            <a:ext cx="4286250" cy="608050"/>
            <a:chOff x="0" y="0"/>
            <a:chExt cx="5715000" cy="81073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715000" cy="810733"/>
            </a:xfrm>
            <a:custGeom>
              <a:avLst/>
              <a:gdLst/>
              <a:ahLst/>
              <a:cxnLst/>
              <a:rect l="l" t="t" r="r" b="b"/>
              <a:pathLst>
                <a:path w="5715000" h="810733">
                  <a:moveTo>
                    <a:pt x="28222" y="0"/>
                  </a:moveTo>
                  <a:lnTo>
                    <a:pt x="5686778" y="0"/>
                  </a:lnTo>
                  <a:cubicBezTo>
                    <a:pt x="5694263" y="0"/>
                    <a:pt x="5701441" y="2973"/>
                    <a:pt x="5706734" y="8266"/>
                  </a:cubicBezTo>
                  <a:cubicBezTo>
                    <a:pt x="5712027" y="13559"/>
                    <a:pt x="5715000" y="20737"/>
                    <a:pt x="5715000" y="28222"/>
                  </a:cubicBezTo>
                  <a:lnTo>
                    <a:pt x="5715000" y="782511"/>
                  </a:lnTo>
                  <a:cubicBezTo>
                    <a:pt x="5715000" y="789996"/>
                    <a:pt x="5712027" y="797174"/>
                    <a:pt x="5706734" y="802467"/>
                  </a:cubicBezTo>
                  <a:cubicBezTo>
                    <a:pt x="5701441" y="807759"/>
                    <a:pt x="5694263" y="810733"/>
                    <a:pt x="5686778" y="810733"/>
                  </a:cubicBezTo>
                  <a:lnTo>
                    <a:pt x="28222" y="810733"/>
                  </a:lnTo>
                  <a:cubicBezTo>
                    <a:pt x="20737" y="810733"/>
                    <a:pt x="13559" y="807759"/>
                    <a:pt x="8266" y="802467"/>
                  </a:cubicBezTo>
                  <a:cubicBezTo>
                    <a:pt x="2973" y="797174"/>
                    <a:pt x="0" y="789996"/>
                    <a:pt x="0" y="782511"/>
                  </a:cubicBezTo>
                  <a:lnTo>
                    <a:pt x="0" y="28222"/>
                  </a:lnTo>
                  <a:cubicBezTo>
                    <a:pt x="0" y="20737"/>
                    <a:pt x="2973" y="13559"/>
                    <a:pt x="8266" y="8266"/>
                  </a:cubicBezTo>
                  <a:cubicBezTo>
                    <a:pt x="13559" y="2973"/>
                    <a:pt x="20737" y="0"/>
                    <a:pt x="28222" y="0"/>
                  </a:cubicBezTo>
                  <a:close/>
                </a:path>
              </a:pathLst>
            </a:custGeom>
            <a:solidFill>
              <a:srgbClr val="DBEAFE"/>
            </a:solidFill>
            <a:ln cap="sq">
              <a:noFill/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5715000" cy="8488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r>
                <a:rPr lang="en-US" sz="1950" b="1">
                  <a:solidFill>
                    <a:srgbClr val="132033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call 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572875" y="6496050"/>
            <a:ext cx="3619500" cy="552450"/>
            <a:chOff x="0" y="0"/>
            <a:chExt cx="4826000" cy="7366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826000" cy="736600"/>
            </a:xfrm>
            <a:custGeom>
              <a:avLst/>
              <a:gdLst/>
              <a:ahLst/>
              <a:cxnLst/>
              <a:rect l="l" t="t" r="r" b="b"/>
              <a:pathLst>
                <a:path w="4826000" h="736600">
                  <a:moveTo>
                    <a:pt x="33421" y="0"/>
                  </a:moveTo>
                  <a:lnTo>
                    <a:pt x="4792579" y="0"/>
                  </a:lnTo>
                  <a:cubicBezTo>
                    <a:pt x="4811037" y="0"/>
                    <a:pt x="4826000" y="14963"/>
                    <a:pt x="4826000" y="33421"/>
                  </a:cubicBezTo>
                  <a:lnTo>
                    <a:pt x="4826000" y="703179"/>
                  </a:lnTo>
                  <a:cubicBezTo>
                    <a:pt x="4826000" y="721637"/>
                    <a:pt x="4811037" y="736600"/>
                    <a:pt x="4792579" y="736600"/>
                  </a:cubicBezTo>
                  <a:lnTo>
                    <a:pt x="33421" y="736600"/>
                  </a:lnTo>
                  <a:cubicBezTo>
                    <a:pt x="14963" y="736600"/>
                    <a:pt x="0" y="721637"/>
                    <a:pt x="0" y="703179"/>
                  </a:cubicBezTo>
                  <a:lnTo>
                    <a:pt x="0" y="33421"/>
                  </a:lnTo>
                  <a:cubicBezTo>
                    <a:pt x="0" y="14963"/>
                    <a:pt x="14963" y="0"/>
                    <a:pt x="33421" y="0"/>
                  </a:cubicBezTo>
                  <a:close/>
                </a:path>
              </a:pathLst>
            </a:custGeom>
            <a:solidFill>
              <a:srgbClr val="DBEAFE"/>
            </a:solidFill>
            <a:ln cap="sq">
              <a:noFill/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4826000" cy="7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r>
                <a:rPr lang="en-US" sz="1950" b="1">
                  <a:solidFill>
                    <a:srgbClr val="132033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call 2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906250" y="5838825"/>
            <a:ext cx="2952750" cy="533400"/>
            <a:chOff x="0" y="0"/>
            <a:chExt cx="3937000" cy="7112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937000" cy="711200"/>
            </a:xfrm>
            <a:custGeom>
              <a:avLst/>
              <a:gdLst/>
              <a:ahLst/>
              <a:cxnLst/>
              <a:rect l="l" t="t" r="r" b="b"/>
              <a:pathLst>
                <a:path w="3937000" h="711200">
                  <a:moveTo>
                    <a:pt x="40968" y="0"/>
                  </a:moveTo>
                  <a:lnTo>
                    <a:pt x="3896032" y="0"/>
                  </a:lnTo>
                  <a:cubicBezTo>
                    <a:pt x="3906898" y="0"/>
                    <a:pt x="3917318" y="4316"/>
                    <a:pt x="3925001" y="11999"/>
                  </a:cubicBezTo>
                  <a:cubicBezTo>
                    <a:pt x="3932684" y="19682"/>
                    <a:pt x="3937000" y="30102"/>
                    <a:pt x="3937000" y="40968"/>
                  </a:cubicBezTo>
                  <a:lnTo>
                    <a:pt x="3937000" y="670232"/>
                  </a:lnTo>
                  <a:cubicBezTo>
                    <a:pt x="3937000" y="681098"/>
                    <a:pt x="3932684" y="691518"/>
                    <a:pt x="3925001" y="699201"/>
                  </a:cubicBezTo>
                  <a:cubicBezTo>
                    <a:pt x="3917318" y="706884"/>
                    <a:pt x="3906898" y="711200"/>
                    <a:pt x="3896032" y="711200"/>
                  </a:cubicBezTo>
                  <a:lnTo>
                    <a:pt x="40968" y="711200"/>
                  </a:lnTo>
                  <a:cubicBezTo>
                    <a:pt x="30102" y="711200"/>
                    <a:pt x="19682" y="706884"/>
                    <a:pt x="11999" y="699201"/>
                  </a:cubicBezTo>
                  <a:cubicBezTo>
                    <a:pt x="4316" y="691518"/>
                    <a:pt x="0" y="681098"/>
                    <a:pt x="0" y="670232"/>
                  </a:cubicBezTo>
                  <a:lnTo>
                    <a:pt x="0" y="40968"/>
                  </a:lnTo>
                  <a:cubicBezTo>
                    <a:pt x="0" y="30102"/>
                    <a:pt x="4316" y="19682"/>
                    <a:pt x="11999" y="11999"/>
                  </a:cubicBezTo>
                  <a:cubicBezTo>
                    <a:pt x="19682" y="4316"/>
                    <a:pt x="30102" y="0"/>
                    <a:pt x="40968" y="0"/>
                  </a:cubicBezTo>
                  <a:close/>
                </a:path>
              </a:pathLst>
            </a:custGeom>
            <a:solidFill>
              <a:srgbClr val="DBEAFE"/>
            </a:solidFill>
            <a:ln cap="sq">
              <a:noFill/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3937000" cy="749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r>
                <a:rPr lang="en-US" sz="1950" b="1">
                  <a:solidFill>
                    <a:srgbClr val="132033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call 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2239625" y="5172075"/>
            <a:ext cx="2286000" cy="542925"/>
            <a:chOff x="0" y="0"/>
            <a:chExt cx="3048000" cy="7239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048000" cy="723900"/>
            </a:xfrm>
            <a:custGeom>
              <a:avLst/>
              <a:gdLst/>
              <a:ahLst/>
              <a:cxnLst/>
              <a:rect l="l" t="t" r="r" b="b"/>
              <a:pathLst>
                <a:path w="3048000" h="723900">
                  <a:moveTo>
                    <a:pt x="52917" y="0"/>
                  </a:moveTo>
                  <a:lnTo>
                    <a:pt x="2995083" y="0"/>
                  </a:lnTo>
                  <a:cubicBezTo>
                    <a:pt x="3024308" y="0"/>
                    <a:pt x="3048000" y="23692"/>
                    <a:pt x="3048000" y="52917"/>
                  </a:cubicBezTo>
                  <a:lnTo>
                    <a:pt x="3048000" y="670983"/>
                  </a:lnTo>
                  <a:cubicBezTo>
                    <a:pt x="3048000" y="700208"/>
                    <a:pt x="3024308" y="723900"/>
                    <a:pt x="2995083" y="723900"/>
                  </a:cubicBezTo>
                  <a:lnTo>
                    <a:pt x="52917" y="723900"/>
                  </a:lnTo>
                  <a:cubicBezTo>
                    <a:pt x="23692" y="723900"/>
                    <a:pt x="0" y="700208"/>
                    <a:pt x="0" y="670983"/>
                  </a:cubicBezTo>
                  <a:lnTo>
                    <a:pt x="0" y="52917"/>
                  </a:lnTo>
                  <a:cubicBezTo>
                    <a:pt x="0" y="23692"/>
                    <a:pt x="23692" y="0"/>
                    <a:pt x="52917" y="0"/>
                  </a:cubicBezTo>
                  <a:close/>
                </a:path>
              </a:pathLst>
            </a:custGeom>
            <a:solidFill>
              <a:srgbClr val="DBEAFE"/>
            </a:solidFill>
            <a:ln cap="sq">
              <a:noFill/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3048000" cy="762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r>
                <a:rPr lang="en-US" sz="1950" b="1">
                  <a:solidFill>
                    <a:srgbClr val="132033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call 4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2573000" y="4621054"/>
            <a:ext cx="1619250" cy="474821"/>
            <a:chOff x="0" y="0"/>
            <a:chExt cx="2159000" cy="633095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159000" cy="633095"/>
            </a:xfrm>
            <a:custGeom>
              <a:avLst/>
              <a:gdLst/>
              <a:ahLst/>
              <a:cxnLst/>
              <a:rect l="l" t="t" r="r" b="b"/>
              <a:pathLst>
                <a:path w="2159000" h="633095">
                  <a:moveTo>
                    <a:pt x="74706" y="0"/>
                  </a:moveTo>
                  <a:lnTo>
                    <a:pt x="2084294" y="0"/>
                  </a:lnTo>
                  <a:cubicBezTo>
                    <a:pt x="2104107" y="0"/>
                    <a:pt x="2123109" y="7871"/>
                    <a:pt x="2137119" y="21881"/>
                  </a:cubicBezTo>
                  <a:cubicBezTo>
                    <a:pt x="2151129" y="35891"/>
                    <a:pt x="2159000" y="54893"/>
                    <a:pt x="2159000" y="74706"/>
                  </a:cubicBezTo>
                  <a:lnTo>
                    <a:pt x="2159000" y="558389"/>
                  </a:lnTo>
                  <a:cubicBezTo>
                    <a:pt x="2159000" y="599648"/>
                    <a:pt x="2125553" y="633095"/>
                    <a:pt x="2084294" y="633095"/>
                  </a:cubicBezTo>
                  <a:lnTo>
                    <a:pt x="74706" y="633095"/>
                  </a:lnTo>
                  <a:cubicBezTo>
                    <a:pt x="54893" y="633095"/>
                    <a:pt x="35891" y="625224"/>
                    <a:pt x="21881" y="611214"/>
                  </a:cubicBezTo>
                  <a:cubicBezTo>
                    <a:pt x="7871" y="597204"/>
                    <a:pt x="0" y="578202"/>
                    <a:pt x="0" y="558389"/>
                  </a:cubicBezTo>
                  <a:lnTo>
                    <a:pt x="0" y="74706"/>
                  </a:lnTo>
                  <a:cubicBezTo>
                    <a:pt x="0" y="54893"/>
                    <a:pt x="7871" y="35891"/>
                    <a:pt x="21881" y="21881"/>
                  </a:cubicBezTo>
                  <a:cubicBezTo>
                    <a:pt x="35891" y="7871"/>
                    <a:pt x="54893" y="0"/>
                    <a:pt x="74706" y="0"/>
                  </a:cubicBezTo>
                  <a:close/>
                </a:path>
              </a:pathLst>
            </a:custGeom>
            <a:solidFill>
              <a:srgbClr val="FB7185"/>
            </a:solidFill>
            <a:ln cap="sq">
              <a:noFill/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2159000" cy="6711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r>
                <a:rPr lang="en-US" sz="1950" b="1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call 5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1572875" y="7867650"/>
            <a:ext cx="3619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>
                <a:solidFill>
                  <a:srgbClr val="607086"/>
                </a:solidFill>
                <a:latin typeface="IBM Plex Mono"/>
                <a:ea typeface="IBM Plex Mono"/>
                <a:cs typeface="IBM Plex Mono"/>
                <a:sym typeface="IBM Plex Mono"/>
              </a:rPr>
              <a:t>call stack depth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857250" y="9715500"/>
            <a:ext cx="16573500" cy="203835"/>
            <a:chOff x="0" y="0"/>
            <a:chExt cx="22098000" cy="271780"/>
          </a:xfrm>
        </p:grpSpPr>
        <p:sp>
          <p:nvSpPr>
            <p:cNvPr id="34" name="TextBox 34"/>
            <p:cNvSpPr txBox="1"/>
            <p:nvPr/>
          </p:nvSpPr>
          <p:spPr>
            <a:xfrm>
              <a:off x="0" y="-28575"/>
              <a:ext cx="8890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>
                  <a:solidFill>
                    <a:srgbClr val="607086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BINARY SEARCH  /  SORTED ARRAYS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0955000" y="-28575"/>
              <a:ext cx="1143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889"/>
                </a:lnSpc>
              </a:pPr>
              <a:r>
                <a:rPr lang="en-US" sz="1350">
                  <a:solidFill>
                    <a:srgbClr val="2563EB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7250" y="457200"/>
            <a:ext cx="16573500" cy="762000"/>
            <a:chOff x="0" y="0"/>
            <a:chExt cx="22098000" cy="1016000"/>
          </a:xfrm>
        </p:grpSpPr>
        <p:sp>
          <p:nvSpPr>
            <p:cNvPr id="3" name="TextBox 3"/>
            <p:cNvSpPr txBox="1"/>
            <p:nvPr/>
          </p:nvSpPr>
          <p:spPr>
            <a:xfrm>
              <a:off x="0" y="63500"/>
              <a:ext cx="1524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>
                  <a:solidFill>
                    <a:srgbClr val="2563EB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11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778000" y="-19050"/>
              <a:ext cx="19050000" cy="8039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095"/>
                </a:lnSpc>
              </a:pPr>
              <a:r>
                <a:rPr lang="en-US" sz="3900" b="1">
                  <a:solidFill>
                    <a:srgbClr val="132033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Binary Search vs Linear Search</a:t>
              </a:r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990600"/>
              <a:ext cx="22098000" cy="25400"/>
              <a:chOff x="0" y="0"/>
              <a:chExt cx="22098000" cy="254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20980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2098000" h="25400">
                    <a:moveTo>
                      <a:pt x="0" y="0"/>
                    </a:moveTo>
                    <a:lnTo>
                      <a:pt x="22098000" y="0"/>
                    </a:lnTo>
                    <a:lnTo>
                      <a:pt x="220980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CBD5E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22098000" cy="63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grpSp>
        <p:nvGrpSpPr>
          <p:cNvPr id="8" name="Group 8"/>
          <p:cNvGrpSpPr/>
          <p:nvPr/>
        </p:nvGrpSpPr>
        <p:grpSpPr>
          <a:xfrm>
            <a:off x="6000750" y="1571625"/>
            <a:ext cx="5334000" cy="762000"/>
            <a:chOff x="0" y="0"/>
            <a:chExt cx="7112000" cy="1016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112000" cy="1016000"/>
            </a:xfrm>
            <a:custGeom>
              <a:avLst/>
              <a:gdLst/>
              <a:ahLst/>
              <a:cxnLst/>
              <a:rect l="l" t="t" r="r" b="b"/>
              <a:pathLst>
                <a:path w="7112000" h="1016000">
                  <a:moveTo>
                    <a:pt x="0" y="0"/>
                  </a:moveTo>
                  <a:lnTo>
                    <a:pt x="7112000" y="0"/>
                  </a:lnTo>
                  <a:lnTo>
                    <a:pt x="7112000" y="1016000"/>
                  </a:lnTo>
                  <a:lnTo>
                    <a:pt x="0" y="1016000"/>
                  </a:lnTo>
                  <a:close/>
                </a:path>
              </a:pathLst>
            </a:custGeom>
            <a:solidFill>
              <a:srgbClr val="2563EB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7112000" cy="10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334750" y="1571625"/>
            <a:ext cx="5048250" cy="762000"/>
            <a:chOff x="0" y="0"/>
            <a:chExt cx="6731000" cy="1016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731000" cy="1016000"/>
            </a:xfrm>
            <a:custGeom>
              <a:avLst/>
              <a:gdLst/>
              <a:ahLst/>
              <a:cxnLst/>
              <a:rect l="l" t="t" r="r" b="b"/>
              <a:pathLst>
                <a:path w="6731000" h="1016000">
                  <a:moveTo>
                    <a:pt x="0" y="0"/>
                  </a:moveTo>
                  <a:lnTo>
                    <a:pt x="6731000" y="0"/>
                  </a:lnTo>
                  <a:lnTo>
                    <a:pt x="6731000" y="1016000"/>
                  </a:lnTo>
                  <a:lnTo>
                    <a:pt x="0" y="1016000"/>
                  </a:lnTo>
                  <a:close/>
                </a:path>
              </a:pathLst>
            </a:custGeom>
            <a:solidFill>
              <a:srgbClr val="DCE3EC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6731000" cy="10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286500" y="1714500"/>
            <a:ext cx="476250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1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BINARY SEARCH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334750" y="1714500"/>
            <a:ext cx="476250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1">
                <a:solidFill>
                  <a:srgbClr val="132033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LINEAR SEARCH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3000" y="2590800"/>
            <a:ext cx="40957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607086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APPROACH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286500" y="2581275"/>
            <a:ext cx="4762500" cy="331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>
                <a:solidFill>
                  <a:srgbClr val="132033"/>
                </a:solidFill>
                <a:latin typeface="IBM Plex Sans"/>
                <a:ea typeface="IBM Plex Sans"/>
                <a:cs typeface="IBM Plex Sans"/>
                <a:sym typeface="IBM Plex Sans"/>
              </a:rPr>
              <a:t>Divide &amp; conquer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334750" y="2581275"/>
            <a:ext cx="4762500" cy="331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>
                <a:solidFill>
                  <a:srgbClr val="132033"/>
                </a:solidFill>
                <a:latin typeface="IBM Plex Sans"/>
                <a:ea typeface="IBM Plex Sans"/>
                <a:cs typeface="IBM Plex Sans"/>
                <a:sym typeface="IBM Plex Sans"/>
              </a:rPr>
              <a:t>Sequential scan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047750" y="3143250"/>
            <a:ext cx="15335250" cy="9525"/>
            <a:chOff x="0" y="0"/>
            <a:chExt cx="20447000" cy="127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0447000" cy="12700"/>
            </a:xfrm>
            <a:custGeom>
              <a:avLst/>
              <a:gdLst/>
              <a:ahLst/>
              <a:cxnLst/>
              <a:rect l="l" t="t" r="r" b="b"/>
              <a:pathLst>
                <a:path w="20447000" h="12700">
                  <a:moveTo>
                    <a:pt x="0" y="0"/>
                  </a:moveTo>
                  <a:lnTo>
                    <a:pt x="20447000" y="0"/>
                  </a:lnTo>
                  <a:lnTo>
                    <a:pt x="20447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BD5E1"/>
            </a:solidFill>
            <a:ln cap="sq">
              <a:noFill/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20447000" cy="50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143000" y="3467100"/>
            <a:ext cx="40957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607086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SORTED DATA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286500" y="3457575"/>
            <a:ext cx="4762500" cy="331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>
                <a:solidFill>
                  <a:srgbClr val="132033"/>
                </a:solidFill>
                <a:latin typeface="IBM Plex Sans"/>
                <a:ea typeface="IBM Plex Sans"/>
                <a:cs typeface="IBM Plex Sans"/>
                <a:sym typeface="IBM Plex Sans"/>
              </a:rPr>
              <a:t>Required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334750" y="3457575"/>
            <a:ext cx="4762500" cy="331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>
                <a:solidFill>
                  <a:srgbClr val="132033"/>
                </a:solidFill>
                <a:latin typeface="IBM Plex Sans"/>
                <a:ea typeface="IBM Plex Sans"/>
                <a:cs typeface="IBM Plex Sans"/>
                <a:sym typeface="IBM Plex Sans"/>
              </a:rPr>
              <a:t>Not required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047750" y="4019550"/>
            <a:ext cx="15335250" cy="9525"/>
            <a:chOff x="0" y="0"/>
            <a:chExt cx="20447000" cy="127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0447000" cy="12700"/>
            </a:xfrm>
            <a:custGeom>
              <a:avLst/>
              <a:gdLst/>
              <a:ahLst/>
              <a:cxnLst/>
              <a:rect l="l" t="t" r="r" b="b"/>
              <a:pathLst>
                <a:path w="20447000" h="12700">
                  <a:moveTo>
                    <a:pt x="0" y="0"/>
                  </a:moveTo>
                  <a:lnTo>
                    <a:pt x="20447000" y="0"/>
                  </a:lnTo>
                  <a:lnTo>
                    <a:pt x="20447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BD5E1"/>
            </a:solidFill>
            <a:ln cap="sq">
              <a:noFill/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20447000" cy="50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143000" y="4343400"/>
            <a:ext cx="40957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607086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BEST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286500" y="4333875"/>
            <a:ext cx="4762500" cy="331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>
                <a:solidFill>
                  <a:srgbClr val="132033"/>
                </a:solidFill>
                <a:latin typeface="IBM Plex Sans"/>
                <a:ea typeface="IBM Plex Sans"/>
                <a:cs typeface="IBM Plex Sans"/>
                <a:sym typeface="IBM Plex Sans"/>
              </a:rPr>
              <a:t>O(1)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334750" y="4333875"/>
            <a:ext cx="4762500" cy="331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>
                <a:solidFill>
                  <a:srgbClr val="132033"/>
                </a:solidFill>
                <a:latin typeface="IBM Plex Sans"/>
                <a:ea typeface="IBM Plex Sans"/>
                <a:cs typeface="IBM Plex Sans"/>
                <a:sym typeface="IBM Plex Sans"/>
              </a:rPr>
              <a:t>O(1)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047750" y="4895850"/>
            <a:ext cx="15335250" cy="9525"/>
            <a:chOff x="0" y="0"/>
            <a:chExt cx="20447000" cy="127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0447000" cy="12700"/>
            </a:xfrm>
            <a:custGeom>
              <a:avLst/>
              <a:gdLst/>
              <a:ahLst/>
              <a:cxnLst/>
              <a:rect l="l" t="t" r="r" b="b"/>
              <a:pathLst>
                <a:path w="20447000" h="12700">
                  <a:moveTo>
                    <a:pt x="0" y="0"/>
                  </a:moveTo>
                  <a:lnTo>
                    <a:pt x="20447000" y="0"/>
                  </a:lnTo>
                  <a:lnTo>
                    <a:pt x="20447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BD5E1"/>
            </a:solidFill>
            <a:ln cap="sq">
              <a:noFill/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20447000" cy="50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143000" y="5219700"/>
            <a:ext cx="40957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607086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AVERAGE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286500" y="5210175"/>
            <a:ext cx="4762500" cy="331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 b="1">
                <a:solidFill>
                  <a:srgbClr val="2563E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O(log n)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334750" y="5210175"/>
            <a:ext cx="4762500" cy="331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>
                <a:solidFill>
                  <a:srgbClr val="132033"/>
                </a:solidFill>
                <a:latin typeface="IBM Plex Sans"/>
                <a:ea typeface="IBM Plex Sans"/>
                <a:cs typeface="IBM Plex Sans"/>
                <a:sym typeface="IBM Plex Sans"/>
              </a:rPr>
              <a:t>O(n)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047750" y="5772150"/>
            <a:ext cx="15335250" cy="9525"/>
            <a:chOff x="0" y="0"/>
            <a:chExt cx="20447000" cy="127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0447000" cy="12700"/>
            </a:xfrm>
            <a:custGeom>
              <a:avLst/>
              <a:gdLst/>
              <a:ahLst/>
              <a:cxnLst/>
              <a:rect l="l" t="t" r="r" b="b"/>
              <a:pathLst>
                <a:path w="20447000" h="12700">
                  <a:moveTo>
                    <a:pt x="0" y="0"/>
                  </a:moveTo>
                  <a:lnTo>
                    <a:pt x="20447000" y="0"/>
                  </a:lnTo>
                  <a:lnTo>
                    <a:pt x="20447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BD5E1"/>
            </a:solidFill>
            <a:ln cap="sq">
              <a:noFill/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20447000" cy="50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143000" y="6096000"/>
            <a:ext cx="40957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607086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WORST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286500" y="6086475"/>
            <a:ext cx="4762500" cy="331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 b="1">
                <a:solidFill>
                  <a:srgbClr val="2563E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O(log n)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334750" y="6086475"/>
            <a:ext cx="4762500" cy="331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>
                <a:solidFill>
                  <a:srgbClr val="132033"/>
                </a:solidFill>
                <a:latin typeface="IBM Plex Sans"/>
                <a:ea typeface="IBM Plex Sans"/>
                <a:cs typeface="IBM Plex Sans"/>
                <a:sym typeface="IBM Plex Sans"/>
              </a:rPr>
              <a:t>O(n)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1047750" y="6648450"/>
            <a:ext cx="15335250" cy="9525"/>
            <a:chOff x="0" y="0"/>
            <a:chExt cx="20447000" cy="127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20447000" cy="12700"/>
            </a:xfrm>
            <a:custGeom>
              <a:avLst/>
              <a:gdLst/>
              <a:ahLst/>
              <a:cxnLst/>
              <a:rect l="l" t="t" r="r" b="b"/>
              <a:pathLst>
                <a:path w="20447000" h="12700">
                  <a:moveTo>
                    <a:pt x="0" y="0"/>
                  </a:moveTo>
                  <a:lnTo>
                    <a:pt x="20447000" y="0"/>
                  </a:lnTo>
                  <a:lnTo>
                    <a:pt x="20447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BD5E1"/>
            </a:solidFill>
            <a:ln cap="sq">
              <a:noFill/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0" y="-38100"/>
              <a:ext cx="20447000" cy="50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1143000" y="6972300"/>
            <a:ext cx="40957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607086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SPACE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286500" y="6962775"/>
            <a:ext cx="4762500" cy="331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>
                <a:solidFill>
                  <a:srgbClr val="132033"/>
                </a:solidFill>
                <a:latin typeface="IBM Plex Sans"/>
                <a:ea typeface="IBM Plex Sans"/>
                <a:cs typeface="IBM Plex Sans"/>
                <a:sym typeface="IBM Plex Sans"/>
              </a:rPr>
              <a:t>O(1) iterative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334750" y="6962775"/>
            <a:ext cx="4762500" cy="331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>
                <a:solidFill>
                  <a:srgbClr val="132033"/>
                </a:solidFill>
                <a:latin typeface="IBM Plex Sans"/>
                <a:ea typeface="IBM Plex Sans"/>
                <a:cs typeface="IBM Plex Sans"/>
                <a:sym typeface="IBM Plex Sans"/>
              </a:rPr>
              <a:t>O(1)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1047750" y="7524750"/>
            <a:ext cx="15335250" cy="9525"/>
            <a:chOff x="0" y="0"/>
            <a:chExt cx="20447000" cy="127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0447000" cy="12700"/>
            </a:xfrm>
            <a:custGeom>
              <a:avLst/>
              <a:gdLst/>
              <a:ahLst/>
              <a:cxnLst/>
              <a:rect l="l" t="t" r="r" b="b"/>
              <a:pathLst>
                <a:path w="20447000" h="12700">
                  <a:moveTo>
                    <a:pt x="0" y="0"/>
                  </a:moveTo>
                  <a:lnTo>
                    <a:pt x="20447000" y="0"/>
                  </a:lnTo>
                  <a:lnTo>
                    <a:pt x="20447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BD5E1"/>
            </a:solidFill>
            <a:ln cap="sq">
              <a:noFill/>
              <a:prstDash val="solid"/>
              <a:miter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0" y="-38100"/>
              <a:ext cx="20447000" cy="50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1143000" y="7848600"/>
            <a:ext cx="40957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607086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BEST FOR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286500" y="7839075"/>
            <a:ext cx="4762500" cy="331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>
                <a:solidFill>
                  <a:srgbClr val="132033"/>
                </a:solidFill>
                <a:latin typeface="IBM Plex Sans"/>
                <a:ea typeface="IBM Plex Sans"/>
                <a:cs typeface="IBM Plex Sans"/>
                <a:sym typeface="IBM Plex Sans"/>
              </a:rPr>
              <a:t>Large sorted arrays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1334750" y="7839075"/>
            <a:ext cx="4762500" cy="331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>
                <a:solidFill>
                  <a:srgbClr val="132033"/>
                </a:solidFill>
                <a:latin typeface="IBM Plex Sans"/>
                <a:ea typeface="IBM Plex Sans"/>
                <a:cs typeface="IBM Plex Sans"/>
                <a:sym typeface="IBM Plex Sans"/>
              </a:rPr>
              <a:t>Small / unsorted data</a:t>
            </a:r>
          </a:p>
        </p:txBody>
      </p:sp>
      <p:grpSp>
        <p:nvGrpSpPr>
          <p:cNvPr id="55" name="Group 55"/>
          <p:cNvGrpSpPr/>
          <p:nvPr/>
        </p:nvGrpSpPr>
        <p:grpSpPr>
          <a:xfrm>
            <a:off x="1047750" y="8401050"/>
            <a:ext cx="15335250" cy="9525"/>
            <a:chOff x="0" y="0"/>
            <a:chExt cx="20447000" cy="1270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20447000" cy="12700"/>
            </a:xfrm>
            <a:custGeom>
              <a:avLst/>
              <a:gdLst/>
              <a:ahLst/>
              <a:cxnLst/>
              <a:rect l="l" t="t" r="r" b="b"/>
              <a:pathLst>
                <a:path w="20447000" h="12700">
                  <a:moveTo>
                    <a:pt x="0" y="0"/>
                  </a:moveTo>
                  <a:lnTo>
                    <a:pt x="20447000" y="0"/>
                  </a:lnTo>
                  <a:lnTo>
                    <a:pt x="20447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BD5E1"/>
            </a:solidFill>
            <a:ln cap="sq">
              <a:noFill/>
              <a:prstDash val="solid"/>
              <a:miter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0" y="-38100"/>
              <a:ext cx="20447000" cy="50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857250" y="9715500"/>
            <a:ext cx="16573500" cy="203835"/>
            <a:chOff x="0" y="0"/>
            <a:chExt cx="22098000" cy="271780"/>
          </a:xfrm>
        </p:grpSpPr>
        <p:sp>
          <p:nvSpPr>
            <p:cNvPr id="59" name="TextBox 59"/>
            <p:cNvSpPr txBox="1"/>
            <p:nvPr/>
          </p:nvSpPr>
          <p:spPr>
            <a:xfrm>
              <a:off x="0" y="-28575"/>
              <a:ext cx="8890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>
                  <a:solidFill>
                    <a:srgbClr val="607086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BINARY SEARCH  /  SORTED ARRAYS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20955000" y="-28575"/>
              <a:ext cx="1143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889"/>
                </a:lnSpc>
              </a:pPr>
              <a:r>
                <a:rPr lang="en-US" sz="1350">
                  <a:solidFill>
                    <a:srgbClr val="2563EB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7250" y="457200"/>
            <a:ext cx="16573500" cy="762000"/>
            <a:chOff x="0" y="0"/>
            <a:chExt cx="22098000" cy="1016000"/>
          </a:xfrm>
        </p:grpSpPr>
        <p:sp>
          <p:nvSpPr>
            <p:cNvPr id="3" name="TextBox 3"/>
            <p:cNvSpPr txBox="1"/>
            <p:nvPr/>
          </p:nvSpPr>
          <p:spPr>
            <a:xfrm>
              <a:off x="0" y="63500"/>
              <a:ext cx="1524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12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778000" y="-19050"/>
              <a:ext cx="19050000" cy="8039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095"/>
                </a:lnSpc>
              </a:pPr>
              <a:r>
                <a:rPr lang="en-US" sz="3900" b="1">
                  <a:solidFill>
                    <a:srgbClr val="FFFF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Advantages + Limitations</a:t>
              </a:r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990600"/>
              <a:ext cx="22098000" cy="25400"/>
              <a:chOff x="0" y="0"/>
              <a:chExt cx="22098000" cy="254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20980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2098000" h="25400">
                    <a:moveTo>
                      <a:pt x="0" y="0"/>
                    </a:moveTo>
                    <a:lnTo>
                      <a:pt x="22098000" y="0"/>
                    </a:lnTo>
                    <a:lnTo>
                      <a:pt x="220980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29405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22098000" cy="63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grpSp>
        <p:nvGrpSpPr>
          <p:cNvPr id="8" name="Group 8"/>
          <p:cNvGrpSpPr/>
          <p:nvPr/>
        </p:nvGrpSpPr>
        <p:grpSpPr>
          <a:xfrm>
            <a:off x="9048750" y="1666875"/>
            <a:ext cx="19050" cy="5476875"/>
            <a:chOff x="0" y="0"/>
            <a:chExt cx="25400" cy="73025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5400" cy="7302500"/>
            </a:xfrm>
            <a:custGeom>
              <a:avLst/>
              <a:gdLst/>
              <a:ahLst/>
              <a:cxnLst/>
              <a:rect l="l" t="t" r="r" b="b"/>
              <a:pathLst>
                <a:path w="25400" h="7302500">
                  <a:moveTo>
                    <a:pt x="0" y="0"/>
                  </a:moveTo>
                  <a:lnTo>
                    <a:pt x="25400" y="0"/>
                  </a:lnTo>
                  <a:lnTo>
                    <a:pt x="25400" y="7302500"/>
                  </a:lnTo>
                  <a:lnTo>
                    <a:pt x="0" y="7302500"/>
                  </a:lnTo>
                  <a:close/>
                </a:path>
              </a:pathLst>
            </a:custGeom>
            <a:solidFill>
              <a:srgbClr val="29405B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5400" cy="7340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143000" y="1771650"/>
            <a:ext cx="619125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A3E635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ADVANTAGES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43000" y="2543175"/>
            <a:ext cx="6667500" cy="661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0"/>
              </a:lnSpc>
            </a:pPr>
            <a:r>
              <a:rPr lang="en-US" sz="4200" b="1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Fast at scale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57250" y="3467100"/>
            <a:ext cx="7258050" cy="15979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3608" lvl="1" indent="-336804" algn="l">
              <a:lnSpc>
                <a:spcPts val="4212"/>
              </a:lnSpc>
              <a:buFont typeface="Arial"/>
              <a:buChar char="•"/>
            </a:pPr>
            <a:r>
              <a:rPr lang="en-US" sz="312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O(log n) performance</a:t>
            </a:r>
          </a:p>
          <a:p>
            <a:pPr marL="673608" lvl="1" indent="-336804" algn="l">
              <a:lnSpc>
                <a:spcPts val="4212"/>
              </a:lnSpc>
              <a:buFont typeface="Arial"/>
              <a:buChar char="•"/>
            </a:pPr>
            <a:r>
              <a:rPr lang="en-US" sz="312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O(1) iterative auxiliary space</a:t>
            </a:r>
          </a:p>
          <a:p>
            <a:pPr marL="673608" lvl="1" indent="-336804" algn="l">
              <a:lnSpc>
                <a:spcPts val="4212"/>
              </a:lnSpc>
              <a:buFont typeface="Arial"/>
              <a:buChar char="•"/>
            </a:pPr>
            <a:r>
              <a:rPr lang="en-US" sz="312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Predictable comparisons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001250" y="1771650"/>
            <a:ext cx="619125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FB7185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LIMITATIONS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001250" y="2543175"/>
            <a:ext cx="6667500" cy="661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0"/>
              </a:lnSpc>
            </a:pPr>
            <a:r>
              <a:rPr lang="en-US" sz="4200" b="1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Order has a cost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717161" y="3467100"/>
            <a:ext cx="7960189" cy="1597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3260" lvl="1" indent="-336630" algn="l">
              <a:lnSpc>
                <a:spcPts val="4209"/>
              </a:lnSpc>
              <a:buFont typeface="Arial"/>
              <a:buChar char="•"/>
            </a:pPr>
            <a:r>
              <a:rPr lang="en-US" sz="3118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Requires sorted data</a:t>
            </a:r>
          </a:p>
          <a:p>
            <a:pPr marL="673260" lvl="1" indent="-336630" algn="l">
              <a:lnSpc>
                <a:spcPts val="4209"/>
              </a:lnSpc>
              <a:buFont typeface="Arial"/>
              <a:buChar char="•"/>
            </a:pPr>
            <a:r>
              <a:rPr lang="en-US" sz="3118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Sorting updates add overhead</a:t>
            </a:r>
          </a:p>
          <a:p>
            <a:pPr marL="673260" lvl="1" indent="-336630" algn="l">
              <a:lnSpc>
                <a:spcPts val="4209"/>
              </a:lnSpc>
              <a:buFont typeface="Arial"/>
              <a:buChar char="•"/>
            </a:pPr>
            <a:r>
              <a:rPr lang="en-US" sz="3118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Poor fit without random access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810000" y="7610475"/>
            <a:ext cx="10668000" cy="537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0"/>
              </a:lnSpc>
            </a:pPr>
            <a:r>
              <a:rPr lang="en-US" sz="2850" b="1">
                <a:solidFill>
                  <a:srgbClr val="22D3EE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Use it when order is stable and access is direct.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857250" y="9715500"/>
            <a:ext cx="16573500" cy="203835"/>
            <a:chOff x="0" y="0"/>
            <a:chExt cx="22098000" cy="271780"/>
          </a:xfrm>
        </p:grpSpPr>
        <p:sp>
          <p:nvSpPr>
            <p:cNvPr id="19" name="TextBox 19"/>
            <p:cNvSpPr txBox="1"/>
            <p:nvPr/>
          </p:nvSpPr>
          <p:spPr>
            <a:xfrm>
              <a:off x="0" y="-28575"/>
              <a:ext cx="8890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>
                  <a:solidFill>
                    <a:srgbClr val="8DA2B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BINARY SEARCH  /  SORTED ARRAYS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0955000" y="-28575"/>
              <a:ext cx="1143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889"/>
                </a:lnSpc>
              </a:pPr>
              <a:r>
                <a:rPr lang="en-US" sz="1350">
                  <a:solidFill>
                    <a:srgbClr val="22D3EE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12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7250" y="457200"/>
            <a:ext cx="16573500" cy="762000"/>
            <a:chOff x="0" y="0"/>
            <a:chExt cx="22098000" cy="1016000"/>
          </a:xfrm>
        </p:grpSpPr>
        <p:sp>
          <p:nvSpPr>
            <p:cNvPr id="3" name="TextBox 3"/>
            <p:cNvSpPr txBox="1"/>
            <p:nvPr/>
          </p:nvSpPr>
          <p:spPr>
            <a:xfrm>
              <a:off x="0" y="63500"/>
              <a:ext cx="1524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>
                  <a:solidFill>
                    <a:srgbClr val="2563EB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13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778000" y="-19050"/>
              <a:ext cx="19050000" cy="8039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095"/>
                </a:lnSpc>
              </a:pPr>
              <a:r>
                <a:rPr lang="en-US" sz="3900" b="1">
                  <a:solidFill>
                    <a:srgbClr val="132033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Applications</a:t>
              </a:r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990600"/>
              <a:ext cx="22098000" cy="25400"/>
              <a:chOff x="0" y="0"/>
              <a:chExt cx="22098000" cy="254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20980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2098000" h="25400">
                    <a:moveTo>
                      <a:pt x="0" y="0"/>
                    </a:moveTo>
                    <a:lnTo>
                      <a:pt x="22098000" y="0"/>
                    </a:lnTo>
                    <a:lnTo>
                      <a:pt x="220980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CBD5E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22098000" cy="63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grpSp>
        <p:nvGrpSpPr>
          <p:cNvPr id="8" name="Group 8"/>
          <p:cNvGrpSpPr/>
          <p:nvPr/>
        </p:nvGrpSpPr>
        <p:grpSpPr>
          <a:xfrm>
            <a:off x="1047750" y="1809750"/>
            <a:ext cx="7620000" cy="2857500"/>
            <a:chOff x="0" y="0"/>
            <a:chExt cx="10160000" cy="381000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10160000" cy="3810000"/>
              <a:chOff x="0" y="0"/>
              <a:chExt cx="10160000" cy="38100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0160000" cy="3810000"/>
              </a:xfrm>
              <a:custGeom>
                <a:avLst/>
                <a:gdLst/>
                <a:ahLst/>
                <a:cxnLst/>
                <a:rect l="l" t="t" r="r" b="b"/>
                <a:pathLst>
                  <a:path w="10160000" h="3810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3810000"/>
                    </a:lnTo>
                    <a:lnTo>
                      <a:pt x="0" y="3810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CBD5E1"/>
                </a:solidFill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10160000" cy="3848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482600" y="406400"/>
              <a:ext cx="12700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1">
                  <a:solidFill>
                    <a:srgbClr val="2563EB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82600" y="1187450"/>
              <a:ext cx="8255000" cy="6870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65"/>
                </a:lnSpc>
              </a:pPr>
              <a:r>
                <a:rPr lang="en-US" sz="3300" b="1">
                  <a:solidFill>
                    <a:srgbClr val="132033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Sorted databases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82600" y="2130425"/>
              <a:ext cx="8255000" cy="4235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1950">
                  <a:solidFill>
                    <a:srgbClr val="13203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Locate keys and records quickly.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144000" y="1809750"/>
            <a:ext cx="7620000" cy="2857500"/>
            <a:chOff x="0" y="0"/>
            <a:chExt cx="10160000" cy="3810000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10160000" cy="3810000"/>
              <a:chOff x="0" y="0"/>
              <a:chExt cx="10160000" cy="38100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0160000" cy="3810000"/>
              </a:xfrm>
              <a:custGeom>
                <a:avLst/>
                <a:gdLst/>
                <a:ahLst/>
                <a:cxnLst/>
                <a:rect l="l" t="t" r="r" b="b"/>
                <a:pathLst>
                  <a:path w="10160000" h="3810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3810000"/>
                    </a:lnTo>
                    <a:lnTo>
                      <a:pt x="0" y="3810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CBD5E1"/>
                </a:solidFill>
                <a:prstDash val="solid"/>
                <a:miter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10160000" cy="3848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482600" y="406400"/>
              <a:ext cx="12700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1">
                  <a:solidFill>
                    <a:srgbClr val="2563EB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82600" y="1187450"/>
              <a:ext cx="8255000" cy="6870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65"/>
                </a:lnSpc>
              </a:pPr>
              <a:r>
                <a:rPr lang="en-US" sz="3300" b="1">
                  <a:solidFill>
                    <a:srgbClr val="132033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Lookup systems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82600" y="2130425"/>
              <a:ext cx="8255000" cy="4235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1950">
                  <a:solidFill>
                    <a:srgbClr val="13203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Dictionaries, catalogs, indexes.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47750" y="5143500"/>
            <a:ext cx="7620000" cy="2857500"/>
            <a:chOff x="0" y="0"/>
            <a:chExt cx="10160000" cy="3810000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0"/>
              <a:ext cx="10160000" cy="3810000"/>
              <a:chOff x="0" y="0"/>
              <a:chExt cx="10160000" cy="38100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10160000" cy="3810000"/>
              </a:xfrm>
              <a:custGeom>
                <a:avLst/>
                <a:gdLst/>
                <a:ahLst/>
                <a:cxnLst/>
                <a:rect l="l" t="t" r="r" b="b"/>
                <a:pathLst>
                  <a:path w="10160000" h="3810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3810000"/>
                    </a:lnTo>
                    <a:lnTo>
                      <a:pt x="0" y="3810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CBD5E1"/>
                </a:solidFill>
                <a:prstDash val="solid"/>
                <a:miter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0" y="-38100"/>
                <a:ext cx="10160000" cy="3848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482600" y="406400"/>
              <a:ext cx="12700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1">
                  <a:solidFill>
                    <a:srgbClr val="2563EB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82600" y="1187450"/>
              <a:ext cx="8255000" cy="6870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65"/>
                </a:lnSpc>
              </a:pPr>
              <a:r>
                <a:rPr lang="en-US" sz="3300" b="1">
                  <a:solidFill>
                    <a:srgbClr val="132033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Boundary finding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82600" y="2130425"/>
              <a:ext cx="8255000" cy="4235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1950">
                  <a:solidFill>
                    <a:srgbClr val="13203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First/last valid position in algorithms.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144000" y="5143500"/>
            <a:ext cx="7620000" cy="2857500"/>
            <a:chOff x="0" y="0"/>
            <a:chExt cx="10160000" cy="3810000"/>
          </a:xfrm>
        </p:grpSpPr>
        <p:grpSp>
          <p:nvGrpSpPr>
            <p:cNvPr id="30" name="Group 30"/>
            <p:cNvGrpSpPr/>
            <p:nvPr/>
          </p:nvGrpSpPr>
          <p:grpSpPr>
            <a:xfrm>
              <a:off x="0" y="0"/>
              <a:ext cx="10160000" cy="3810000"/>
              <a:chOff x="0" y="0"/>
              <a:chExt cx="10160000" cy="38100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10160000" cy="3810000"/>
              </a:xfrm>
              <a:custGeom>
                <a:avLst/>
                <a:gdLst/>
                <a:ahLst/>
                <a:cxnLst/>
                <a:rect l="l" t="t" r="r" b="b"/>
                <a:pathLst>
                  <a:path w="10160000" h="3810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3810000"/>
                    </a:lnTo>
                    <a:lnTo>
                      <a:pt x="0" y="3810000"/>
                    </a:lnTo>
                    <a:close/>
                  </a:path>
                </a:pathLst>
              </a:custGeom>
              <a:solidFill>
                <a:srgbClr val="DBEAFE"/>
              </a:solidFill>
              <a:ln w="19050" cap="sq">
                <a:solidFill>
                  <a:srgbClr val="CBD5E1"/>
                </a:solidFill>
                <a:prstDash val="solid"/>
                <a:miter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0" y="-38100"/>
                <a:ext cx="10160000" cy="3848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482600" y="406400"/>
              <a:ext cx="12700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1">
                  <a:solidFill>
                    <a:srgbClr val="2563EB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82600" y="1187450"/>
              <a:ext cx="8255000" cy="6870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65"/>
                </a:lnSpc>
              </a:pPr>
              <a:r>
                <a:rPr lang="en-US" sz="3300" b="1">
                  <a:solidFill>
                    <a:srgbClr val="132033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Problem solving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82600" y="2130425"/>
              <a:ext cx="8255000" cy="8680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1950">
                  <a:solidFill>
                    <a:srgbClr val="13203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Core pattern in programming contests and production code.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57250" y="9715500"/>
            <a:ext cx="16573500" cy="203835"/>
            <a:chOff x="0" y="0"/>
            <a:chExt cx="22098000" cy="271780"/>
          </a:xfrm>
        </p:grpSpPr>
        <p:sp>
          <p:nvSpPr>
            <p:cNvPr id="37" name="TextBox 37"/>
            <p:cNvSpPr txBox="1"/>
            <p:nvPr/>
          </p:nvSpPr>
          <p:spPr>
            <a:xfrm>
              <a:off x="0" y="-28575"/>
              <a:ext cx="8890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>
                  <a:solidFill>
                    <a:srgbClr val="607086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BINARY SEARCH  /  SORTED ARRAYS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0955000" y="-28575"/>
              <a:ext cx="1143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889"/>
                </a:lnSpc>
              </a:pPr>
              <a:r>
                <a:rPr lang="en-US" sz="1350">
                  <a:solidFill>
                    <a:srgbClr val="2563EB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13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7250" y="457200"/>
            <a:ext cx="16573500" cy="762000"/>
            <a:chOff x="0" y="0"/>
            <a:chExt cx="22098000" cy="1016000"/>
          </a:xfrm>
        </p:grpSpPr>
        <p:sp>
          <p:nvSpPr>
            <p:cNvPr id="3" name="TextBox 3"/>
            <p:cNvSpPr txBox="1"/>
            <p:nvPr/>
          </p:nvSpPr>
          <p:spPr>
            <a:xfrm>
              <a:off x="0" y="63500"/>
              <a:ext cx="1524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>
                  <a:solidFill>
                    <a:srgbClr val="2563EB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14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778000" y="-19050"/>
              <a:ext cx="19050000" cy="8039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095"/>
                </a:lnSpc>
              </a:pPr>
              <a:r>
                <a:rPr lang="en-US" sz="3900" b="1">
                  <a:solidFill>
                    <a:srgbClr val="132033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Key Takeaways</a:t>
              </a:r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990600"/>
              <a:ext cx="22098000" cy="25400"/>
              <a:chOff x="0" y="0"/>
              <a:chExt cx="22098000" cy="254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20980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2098000" h="25400">
                    <a:moveTo>
                      <a:pt x="0" y="0"/>
                    </a:moveTo>
                    <a:lnTo>
                      <a:pt x="22098000" y="0"/>
                    </a:lnTo>
                    <a:lnTo>
                      <a:pt x="220980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CBD5E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22098000" cy="63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sp>
        <p:nvSpPr>
          <p:cNvPr id="8" name="TextBox 8"/>
          <p:cNvSpPr txBox="1"/>
          <p:nvPr/>
        </p:nvSpPr>
        <p:spPr>
          <a:xfrm>
            <a:off x="1000125" y="1619250"/>
            <a:ext cx="8096250" cy="167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50"/>
              </a:lnSpc>
            </a:pPr>
            <a:r>
              <a:rPr lang="en-US" sz="9750" b="1">
                <a:solidFill>
                  <a:srgbClr val="2563EB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O(log n)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43000" y="3257550"/>
            <a:ext cx="7143750" cy="50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7"/>
              </a:lnSpc>
            </a:pPr>
            <a:r>
              <a:rPr lang="en-US" sz="3150" b="1">
                <a:solidFill>
                  <a:srgbClr val="132033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The payoff of halving.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477500" y="1962150"/>
            <a:ext cx="53340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2563EB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01  SORT FIRST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477500" y="2438400"/>
            <a:ext cx="5715000" cy="368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132033"/>
                </a:solidFill>
                <a:latin typeface="IBM Plex Sans"/>
                <a:ea typeface="IBM Plex Sans"/>
                <a:cs typeface="IBM Plex Sans"/>
                <a:sym typeface="IBM Plex Sans"/>
              </a:rPr>
              <a:t>Binary Search depends on ordered data.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477500" y="3867150"/>
            <a:ext cx="57150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2563EB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02  HALVE REPEATEDLY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477500" y="4343400"/>
            <a:ext cx="5715000" cy="368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132033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Compare at mid; discard one side.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477500" y="5772150"/>
            <a:ext cx="57150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2563EB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03  STAY LEAN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477500" y="6248400"/>
            <a:ext cx="5715000" cy="368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132033"/>
                </a:solidFill>
                <a:latin typeface="IBM Plex Sans"/>
                <a:ea typeface="IBM Plex Sans"/>
                <a:cs typeface="IBM Plex Sans"/>
                <a:sym typeface="IBM Plex Sans"/>
              </a:rPr>
              <a:t>Iterative search uses O(1) extra space.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3000" y="6143625"/>
            <a:ext cx="7143750" cy="807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4"/>
              </a:lnSpc>
            </a:pPr>
            <a:r>
              <a:rPr lang="en-US" sz="2325">
                <a:solidFill>
                  <a:srgbClr val="607086"/>
                </a:solidFill>
                <a:latin typeface="IBM Plex Mono"/>
                <a:ea typeface="IBM Plex Mono"/>
                <a:cs typeface="IBM Plex Mono"/>
                <a:sym typeface="IBM Plex Mono"/>
              </a:rPr>
              <a:t>1,024 → 512 → 256 → 128 → 64 → 32 → 16 → 8 → 4 → 2 → 1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857250" y="9715500"/>
            <a:ext cx="16573500" cy="203835"/>
            <a:chOff x="0" y="0"/>
            <a:chExt cx="22098000" cy="271780"/>
          </a:xfrm>
        </p:grpSpPr>
        <p:sp>
          <p:nvSpPr>
            <p:cNvPr id="18" name="TextBox 18"/>
            <p:cNvSpPr txBox="1"/>
            <p:nvPr/>
          </p:nvSpPr>
          <p:spPr>
            <a:xfrm>
              <a:off x="0" y="-28575"/>
              <a:ext cx="8890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>
                  <a:solidFill>
                    <a:srgbClr val="607086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BINARY SEARCH  /  SORTED ARRAYS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0955000" y="-28575"/>
              <a:ext cx="1143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889"/>
                </a:lnSpc>
              </a:pPr>
              <a:r>
                <a:rPr lang="en-US" sz="1350">
                  <a:solidFill>
                    <a:srgbClr val="2563EB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14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3000" y="1676400"/>
            <a:ext cx="57150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>
                <a:solidFill>
                  <a:srgbClr val="22D3E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END OF SEARCH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43000" y="2362200"/>
            <a:ext cx="8922081" cy="3697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38"/>
              </a:lnSpc>
            </a:pPr>
            <a:r>
              <a:rPr lang="en-US" sz="12608" b="1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Thank</a:t>
            </a:r>
          </a:p>
          <a:p>
            <a:pPr algn="l">
              <a:lnSpc>
                <a:spcPts val="13238"/>
              </a:lnSpc>
            </a:pPr>
            <a:r>
              <a:rPr lang="en-US" sz="12608" b="1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You!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1144250" y="3905250"/>
            <a:ext cx="6191250" cy="1809750"/>
            <a:chOff x="0" y="0"/>
            <a:chExt cx="8255000" cy="2413000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8255000" cy="2413000"/>
              <a:chOff x="0" y="0"/>
              <a:chExt cx="8255000" cy="24130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8255000" cy="2413000"/>
              </a:xfrm>
              <a:custGeom>
                <a:avLst/>
                <a:gdLst/>
                <a:ahLst/>
                <a:cxnLst/>
                <a:rect l="l" t="t" r="r" b="b"/>
                <a:pathLst>
                  <a:path w="8255000" h="2413000">
                    <a:moveTo>
                      <a:pt x="0" y="0"/>
                    </a:moveTo>
                    <a:lnTo>
                      <a:pt x="8255000" y="0"/>
                    </a:lnTo>
                    <a:lnTo>
                      <a:pt x="825500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111D2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8255000" cy="245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762000" y="758825"/>
              <a:ext cx="6604000" cy="7296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620"/>
                </a:lnSpc>
              </a:pPr>
              <a:r>
                <a:rPr lang="en-US" sz="3300" b="1">
                  <a:solidFill>
                    <a:srgbClr val="A3E635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return found;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049625" y="5095875"/>
            <a:ext cx="209550" cy="428625"/>
            <a:chOff x="0" y="0"/>
            <a:chExt cx="279400" cy="5715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9400" cy="571500"/>
            </a:xfrm>
            <a:custGeom>
              <a:avLst/>
              <a:gdLst/>
              <a:ahLst/>
              <a:cxnLst/>
              <a:rect l="l" t="t" r="r" b="b"/>
              <a:pathLst>
                <a:path w="279400" h="571500">
                  <a:moveTo>
                    <a:pt x="0" y="0"/>
                  </a:moveTo>
                  <a:lnTo>
                    <a:pt x="279400" y="0"/>
                  </a:lnTo>
                  <a:lnTo>
                    <a:pt x="279400" y="571500"/>
                  </a:lnTo>
                  <a:lnTo>
                    <a:pt x="0" y="571500"/>
                  </a:lnTo>
                  <a:close/>
                </a:path>
              </a:pathLst>
            </a:custGeom>
            <a:solidFill>
              <a:srgbClr val="22D3EE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79400" cy="609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56800" y="9715500"/>
            <a:ext cx="16573950" cy="505457"/>
            <a:chOff x="0" y="0"/>
            <a:chExt cx="22098600" cy="673942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57150"/>
              <a:ext cx="8890600" cy="7310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690"/>
                </a:lnSpc>
              </a:pPr>
              <a:r>
                <a:rPr lang="en-US" sz="3350" i="1">
                  <a:solidFill>
                    <a:srgbClr val="FFFFFF"/>
                  </a:solidFill>
                  <a:latin typeface="Abril Fatface Italics"/>
                  <a:ea typeface="Abril Fatface Italics"/>
                  <a:cs typeface="Abril Fatface Italics"/>
                  <a:sym typeface="Abril Fatface Italics"/>
                </a:rPr>
                <a:t>Made with Canva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0955600" y="-28575"/>
              <a:ext cx="1143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889"/>
                </a:lnSpc>
              </a:pPr>
              <a:r>
                <a:rPr lang="en-US" sz="1350">
                  <a:solidFill>
                    <a:srgbClr val="22D3EE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15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1017</Words>
  <Application>Microsoft Office PowerPoint</Application>
  <PresentationFormat>Custom</PresentationFormat>
  <Paragraphs>260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IBM Plex Mono</vt:lpstr>
      <vt:lpstr>IBM Plex Sans Bold</vt:lpstr>
      <vt:lpstr>IBM Plex Sans</vt:lpstr>
      <vt:lpstr>Arial</vt:lpstr>
      <vt:lpstr>Akzidenz-Grotesk Bold</vt:lpstr>
      <vt:lpstr>IBM Plex Mono Bold</vt:lpstr>
      <vt:lpstr>Calibri</vt:lpstr>
      <vt:lpstr>Abril Fatface Italics</vt:lpstr>
      <vt:lpstr>Proxima Nova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Binary Search</dc:title>
  <cp:lastModifiedBy>Shivansh Tiwari</cp:lastModifiedBy>
  <cp:revision>1</cp:revision>
  <dcterms:created xsi:type="dcterms:W3CDTF">2006-08-16T00:00:00Z</dcterms:created>
  <dcterms:modified xsi:type="dcterms:W3CDTF">2026-10-19T07:06:28Z</dcterms:modified>
  <dc:identifier>DAHW2d1gKd8</dc:identifier>
</cp:coreProperties>
</file>